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9" r:id="rId1"/>
  </p:sldMasterIdLst>
  <p:sldIdLst>
    <p:sldId id="256" r:id="rId2"/>
    <p:sldId id="257" r:id="rId3"/>
    <p:sldId id="269" r:id="rId4"/>
    <p:sldId id="258" r:id="rId5"/>
    <p:sldId id="259" r:id="rId6"/>
    <p:sldId id="262" r:id="rId7"/>
    <p:sldId id="261" r:id="rId8"/>
    <p:sldId id="263" r:id="rId9"/>
    <p:sldId id="264" r:id="rId10"/>
    <p:sldId id="286" r:id="rId11"/>
    <p:sldId id="265" r:id="rId12"/>
    <p:sldId id="266" r:id="rId13"/>
    <p:sldId id="267" r:id="rId14"/>
    <p:sldId id="268" r:id="rId15"/>
    <p:sldId id="287" r:id="rId16"/>
    <p:sldId id="270" r:id="rId17"/>
    <p:sldId id="271" r:id="rId18"/>
    <p:sldId id="272" r:id="rId19"/>
    <p:sldId id="273" r:id="rId20"/>
    <p:sldId id="274" r:id="rId21"/>
    <p:sldId id="288" r:id="rId22"/>
    <p:sldId id="275" r:id="rId23"/>
    <p:sldId id="276" r:id="rId24"/>
    <p:sldId id="277" r:id="rId25"/>
    <p:sldId id="278" r:id="rId26"/>
    <p:sldId id="279" r:id="rId27"/>
    <p:sldId id="280" r:id="rId28"/>
    <p:sldId id="281" r:id="rId29"/>
    <p:sldId id="282" r:id="rId30"/>
    <p:sldId id="283" r:id="rId31"/>
    <p:sldId id="284" r:id="rId32"/>
    <p:sldId id="285"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Hristo\Downloads\coffeeOrdersData.xlsx" TargetMode="External"/><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Tables!TopQuantity</c:name>
    <c:fmtId val="15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noProof="0" dirty="0">
                <a:solidFill>
                  <a:srgbClr val="3C1464"/>
                </a:solidFill>
              </a:rPr>
              <a:t>Top 10 Products by Quantity</a:t>
            </a:r>
            <a:endParaRPr lang="en-GB" b="0"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Tables'!$G$11</c:f>
              <c:strCache>
                <c:ptCount val="1"/>
                <c:pt idx="0">
                  <c:v>Total</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Tables'!$F$12:$F$23</c:f>
              <c:strCache>
                <c:ptCount val="11"/>
                <c:pt idx="0">
                  <c:v>A-D-0.5</c:v>
                </c:pt>
                <c:pt idx="1">
                  <c:v>E-M-1</c:v>
                </c:pt>
                <c:pt idx="2">
                  <c:v>E-L-0.5</c:v>
                </c:pt>
                <c:pt idx="3">
                  <c:v>R-L-1</c:v>
                </c:pt>
                <c:pt idx="4">
                  <c:v>R-D-0.2</c:v>
                </c:pt>
                <c:pt idx="5">
                  <c:v>L-L-0.2</c:v>
                </c:pt>
                <c:pt idx="6">
                  <c:v>A-M-2.5</c:v>
                </c:pt>
                <c:pt idx="7">
                  <c:v>A-D-0.2</c:v>
                </c:pt>
                <c:pt idx="8">
                  <c:v>A-M-1</c:v>
                </c:pt>
                <c:pt idx="9">
                  <c:v>A-M-0.5</c:v>
                </c:pt>
                <c:pt idx="10">
                  <c:v>R-L-0.2</c:v>
                </c:pt>
              </c:strCache>
            </c:strRef>
          </c:cat>
          <c:val>
            <c:numRef>
              <c:f>'Pivot Tables'!$G$12:$G$23</c:f>
              <c:numCache>
                <c:formatCode>General</c:formatCode>
                <c:ptCount val="11"/>
                <c:pt idx="0">
                  <c:v>89</c:v>
                </c:pt>
                <c:pt idx="1">
                  <c:v>89</c:v>
                </c:pt>
                <c:pt idx="2">
                  <c:v>91</c:v>
                </c:pt>
                <c:pt idx="3">
                  <c:v>92</c:v>
                </c:pt>
                <c:pt idx="4">
                  <c:v>92</c:v>
                </c:pt>
                <c:pt idx="5">
                  <c:v>92</c:v>
                </c:pt>
                <c:pt idx="6">
                  <c:v>97</c:v>
                </c:pt>
                <c:pt idx="7">
                  <c:v>97</c:v>
                </c:pt>
                <c:pt idx="8">
                  <c:v>97</c:v>
                </c:pt>
                <c:pt idx="9">
                  <c:v>99</c:v>
                </c:pt>
                <c:pt idx="10">
                  <c:v>100</c:v>
                </c:pt>
              </c:numCache>
            </c:numRef>
          </c:val>
          <c:extLst>
            <c:ext xmlns:c16="http://schemas.microsoft.com/office/drawing/2014/chart" uri="{C3380CC4-5D6E-409C-BE32-E72D297353CC}">
              <c16:uniqueId val="{00000000-CCD6-40BE-BF84-7A598033C4A6}"/>
            </c:ext>
          </c:extLst>
        </c:ser>
        <c:dLbls>
          <c:showLegendKey val="0"/>
          <c:showVal val="0"/>
          <c:showCatName val="0"/>
          <c:showSerName val="0"/>
          <c:showPercent val="0"/>
          <c:showBubbleSize val="0"/>
        </c:dLbls>
        <c:gapWidth val="182"/>
        <c:axId val="2103648336"/>
        <c:axId val="2103653616"/>
      </c:barChart>
      <c:catAx>
        <c:axId val="210364833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noProof="0" dirty="0">
                    <a:solidFill>
                      <a:srgbClr val="3C1464"/>
                    </a:solidFill>
                  </a:rPr>
                  <a:t>Product</a:t>
                </a:r>
                <a:r>
                  <a:rPr lang="en-GB" baseline="0" noProof="0" dirty="0"/>
                  <a:t> </a:t>
                </a:r>
                <a:r>
                  <a:rPr lang="en-GB" baseline="0" noProof="0" dirty="0">
                    <a:solidFill>
                      <a:srgbClr val="3C1464"/>
                    </a:solidFill>
                  </a:rPr>
                  <a:t>ID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2103653616"/>
        <c:crosses val="autoZero"/>
        <c:auto val="1"/>
        <c:lblAlgn val="ctr"/>
        <c:lblOffset val="100"/>
        <c:noMultiLvlLbl val="0"/>
      </c:catAx>
      <c:valAx>
        <c:axId val="2103653616"/>
        <c:scaling>
          <c:orientation val="minMax"/>
        </c:scaling>
        <c:delete val="0"/>
        <c:axPos val="b"/>
        <c:majorGridlines>
          <c:spPr>
            <a:ln w="9525" cap="flat" cmpd="sng" algn="ctr">
              <a:solidFill>
                <a:schemeClr val="bg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21036483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Tables!TopSales</c:name>
    <c:fmtId val="15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noProof="0" dirty="0">
                <a:solidFill>
                  <a:srgbClr val="3C1464"/>
                </a:solidFill>
              </a:rPr>
              <a:t>Top</a:t>
            </a:r>
            <a:r>
              <a:rPr lang="en-GB" baseline="0" noProof="0" dirty="0">
                <a:solidFill>
                  <a:srgbClr val="3C1464"/>
                </a:solidFill>
              </a:rPr>
              <a:t> 10 Products by Sales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Tables'!$J$11</c:f>
              <c:strCache>
                <c:ptCount val="1"/>
                <c:pt idx="0">
                  <c:v>Total</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Tables'!$I$12:$I$23</c:f>
              <c:strCache>
                <c:ptCount val="11"/>
                <c:pt idx="0">
                  <c:v>L-M-2.5</c:v>
                </c:pt>
                <c:pt idx="1">
                  <c:v>R-D-2.5</c:v>
                </c:pt>
                <c:pt idx="2">
                  <c:v>A-D-2.5</c:v>
                </c:pt>
                <c:pt idx="3">
                  <c:v>R-L-2.5</c:v>
                </c:pt>
                <c:pt idx="4">
                  <c:v>E-D-2.5</c:v>
                </c:pt>
                <c:pt idx="5">
                  <c:v>E-M-2.5</c:v>
                </c:pt>
                <c:pt idx="6">
                  <c:v>L-L-2.5</c:v>
                </c:pt>
                <c:pt idx="7">
                  <c:v>L-D-2.5</c:v>
                </c:pt>
                <c:pt idx="8">
                  <c:v>E-L-2.5</c:v>
                </c:pt>
                <c:pt idx="9">
                  <c:v>A-M-2.5</c:v>
                </c:pt>
                <c:pt idx="10">
                  <c:v>A-L-2.5</c:v>
                </c:pt>
              </c:strCache>
            </c:strRef>
          </c:cat>
          <c:val>
            <c:numRef>
              <c:f>'Pivot Tables'!$J$12:$J$23</c:f>
              <c:numCache>
                <c:formatCode>_([$$-409]* #,##0.00_);_([$$-409]* \(#,##0.00\);_([$$-409]* "-"??_);_(@_)</c:formatCode>
                <c:ptCount val="11"/>
                <c:pt idx="0">
                  <c:v>1372.0649999999996</c:v>
                </c:pt>
                <c:pt idx="1">
                  <c:v>1523.2899999999997</c:v>
                </c:pt>
                <c:pt idx="2">
                  <c:v>1739.2599999999995</c:v>
                </c:pt>
                <c:pt idx="3">
                  <c:v>1814.0099999999998</c:v>
                </c:pt>
                <c:pt idx="4">
                  <c:v>1844.3700000000001</c:v>
                </c:pt>
                <c:pt idx="5">
                  <c:v>2087.2499999999995</c:v>
                </c:pt>
                <c:pt idx="6">
                  <c:v>2150.8449999999998</c:v>
                </c:pt>
                <c:pt idx="7">
                  <c:v>2442.3699999999994</c:v>
                </c:pt>
                <c:pt idx="8">
                  <c:v>2459.1599999999994</c:v>
                </c:pt>
                <c:pt idx="9">
                  <c:v>2509.8749999999995</c:v>
                </c:pt>
                <c:pt idx="10">
                  <c:v>2561.5099999999998</c:v>
                </c:pt>
              </c:numCache>
            </c:numRef>
          </c:val>
          <c:extLst>
            <c:ext xmlns:c16="http://schemas.microsoft.com/office/drawing/2014/chart" uri="{C3380CC4-5D6E-409C-BE32-E72D297353CC}">
              <c16:uniqueId val="{00000000-28F6-47BE-B817-E0FD62B5DB0F}"/>
            </c:ext>
          </c:extLst>
        </c:ser>
        <c:dLbls>
          <c:showLegendKey val="0"/>
          <c:showVal val="0"/>
          <c:showCatName val="0"/>
          <c:showSerName val="0"/>
          <c:showPercent val="0"/>
          <c:showBubbleSize val="0"/>
        </c:dLbls>
        <c:gapWidth val="182"/>
        <c:axId val="2103704016"/>
        <c:axId val="2103709296"/>
      </c:barChart>
      <c:catAx>
        <c:axId val="210370401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noProof="0" dirty="0">
                    <a:solidFill>
                      <a:srgbClr val="3C1464"/>
                    </a:solidFill>
                  </a:rPr>
                  <a:t>Product</a:t>
                </a:r>
                <a:r>
                  <a:rPr lang="en-GB" baseline="0" noProof="0" dirty="0">
                    <a:solidFill>
                      <a:srgbClr val="3C1464"/>
                    </a:solidFill>
                  </a:rPr>
                  <a:t> ID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2103709296"/>
        <c:crosses val="autoZero"/>
        <c:auto val="1"/>
        <c:lblAlgn val="ctr"/>
        <c:lblOffset val="100"/>
        <c:noMultiLvlLbl val="0"/>
      </c:catAx>
      <c:valAx>
        <c:axId val="2103709296"/>
        <c:scaling>
          <c:orientation val="minMax"/>
        </c:scaling>
        <c:delete val="0"/>
        <c:axPos val="b"/>
        <c:majorGridlines>
          <c:spPr>
            <a:ln w="9525" cap="flat" cmpd="sng" algn="ctr">
              <a:solidFill>
                <a:schemeClr val="bg1"/>
              </a:solidFill>
              <a:round/>
            </a:ln>
            <a:effectLst/>
          </c:spPr>
        </c:majorGridlines>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2103704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Tables!SalesVSQuantity</c:name>
    <c:fmtId val="3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noProof="0" dirty="0">
                <a:solidFill>
                  <a:srgbClr val="3C1464"/>
                </a:solidFill>
              </a:rPr>
              <a:t>Sales vs. Quantity by Product - Identifying High-Volume, Low-Revenue Items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prstDash val="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prstDash val="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prstDash val="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prstDash val="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prstDash val="dash"/>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Tables'!$B$11</c:f>
              <c:strCache>
                <c:ptCount val="1"/>
                <c:pt idx="0">
                  <c:v>Units Sold</c:v>
                </c:pt>
              </c:strCache>
            </c:strRef>
          </c:tx>
          <c:spPr>
            <a:solidFill>
              <a:srgbClr val="00B0F0"/>
            </a:solidFill>
            <a:ln>
              <a:noFill/>
            </a:ln>
            <a:effectLst/>
          </c:spPr>
          <c:invertIfNegative val="0"/>
          <c:cat>
            <c:strRef>
              <c:f>'Pivot Tables'!$A$12:$A$23</c:f>
              <c:strCache>
                <c:ptCount val="11"/>
                <c:pt idx="0">
                  <c:v>R-L-0.2</c:v>
                </c:pt>
                <c:pt idx="1">
                  <c:v>A-M-0.5</c:v>
                </c:pt>
                <c:pt idx="2">
                  <c:v>A-M-2.5</c:v>
                </c:pt>
                <c:pt idx="3">
                  <c:v>A-M-1</c:v>
                </c:pt>
                <c:pt idx="4">
                  <c:v>A-D-0.2</c:v>
                </c:pt>
                <c:pt idx="5">
                  <c:v>R-L-1</c:v>
                </c:pt>
                <c:pt idx="6">
                  <c:v>R-D-0.2</c:v>
                </c:pt>
                <c:pt idx="7">
                  <c:v>L-L-0.2</c:v>
                </c:pt>
                <c:pt idx="8">
                  <c:v>E-L-0.5</c:v>
                </c:pt>
                <c:pt idx="9">
                  <c:v>E-M-1</c:v>
                </c:pt>
                <c:pt idx="10">
                  <c:v>A-D-0.5</c:v>
                </c:pt>
              </c:strCache>
            </c:strRef>
          </c:cat>
          <c:val>
            <c:numRef>
              <c:f>'Pivot Tables'!$B$12:$B$23</c:f>
              <c:numCache>
                <c:formatCode>General</c:formatCode>
                <c:ptCount val="11"/>
                <c:pt idx="0">
                  <c:v>100</c:v>
                </c:pt>
                <c:pt idx="1">
                  <c:v>99</c:v>
                </c:pt>
                <c:pt idx="2">
                  <c:v>97</c:v>
                </c:pt>
                <c:pt idx="3">
                  <c:v>97</c:v>
                </c:pt>
                <c:pt idx="4">
                  <c:v>97</c:v>
                </c:pt>
                <c:pt idx="5">
                  <c:v>92</c:v>
                </c:pt>
                <c:pt idx="6">
                  <c:v>92</c:v>
                </c:pt>
                <c:pt idx="7">
                  <c:v>92</c:v>
                </c:pt>
                <c:pt idx="8">
                  <c:v>91</c:v>
                </c:pt>
                <c:pt idx="9">
                  <c:v>89</c:v>
                </c:pt>
                <c:pt idx="10">
                  <c:v>89</c:v>
                </c:pt>
              </c:numCache>
            </c:numRef>
          </c:val>
          <c:extLst>
            <c:ext xmlns:c16="http://schemas.microsoft.com/office/drawing/2014/chart" uri="{C3380CC4-5D6E-409C-BE32-E72D297353CC}">
              <c16:uniqueId val="{00000000-57C5-4B04-A02E-3368E484F313}"/>
            </c:ext>
          </c:extLst>
        </c:ser>
        <c:dLbls>
          <c:showLegendKey val="0"/>
          <c:showVal val="0"/>
          <c:showCatName val="0"/>
          <c:showSerName val="0"/>
          <c:showPercent val="0"/>
          <c:showBubbleSize val="0"/>
        </c:dLbls>
        <c:gapWidth val="214"/>
        <c:overlap val="-27"/>
        <c:axId val="463878096"/>
        <c:axId val="463895376"/>
      </c:barChart>
      <c:lineChart>
        <c:grouping val="standard"/>
        <c:varyColors val="0"/>
        <c:ser>
          <c:idx val="1"/>
          <c:order val="1"/>
          <c:tx>
            <c:strRef>
              <c:f>'Pivot Tables'!$C$11</c:f>
              <c:strCache>
                <c:ptCount val="1"/>
                <c:pt idx="0">
                  <c:v>Average</c:v>
                </c:pt>
              </c:strCache>
            </c:strRef>
          </c:tx>
          <c:spPr>
            <a:ln w="28575" cap="rnd">
              <a:solidFill>
                <a:srgbClr val="FFC000"/>
              </a:solidFill>
              <a:round/>
            </a:ln>
            <a:effectLst/>
          </c:spPr>
          <c:marker>
            <c:symbol val="none"/>
          </c:marker>
          <c:cat>
            <c:strRef>
              <c:f>'Pivot Tables'!$A$12:$A$23</c:f>
              <c:strCache>
                <c:ptCount val="11"/>
                <c:pt idx="0">
                  <c:v>R-L-0.2</c:v>
                </c:pt>
                <c:pt idx="1">
                  <c:v>A-M-0.5</c:v>
                </c:pt>
                <c:pt idx="2">
                  <c:v>A-M-2.5</c:v>
                </c:pt>
                <c:pt idx="3">
                  <c:v>A-M-1</c:v>
                </c:pt>
                <c:pt idx="4">
                  <c:v>A-D-0.2</c:v>
                </c:pt>
                <c:pt idx="5">
                  <c:v>R-L-1</c:v>
                </c:pt>
                <c:pt idx="6">
                  <c:v>R-D-0.2</c:v>
                </c:pt>
                <c:pt idx="7">
                  <c:v>L-L-0.2</c:v>
                </c:pt>
                <c:pt idx="8">
                  <c:v>E-L-0.5</c:v>
                </c:pt>
                <c:pt idx="9">
                  <c:v>E-M-1</c:v>
                </c:pt>
                <c:pt idx="10">
                  <c:v>A-D-0.5</c:v>
                </c:pt>
              </c:strCache>
            </c:strRef>
          </c:cat>
          <c:val>
            <c:numRef>
              <c:f>'Pivot Tables'!$C$12:$C$23</c:f>
              <c:numCache>
                <c:formatCode>0.00</c:formatCode>
                <c:ptCount val="11"/>
                <c:pt idx="0">
                  <c:v>3.5849999999999995</c:v>
                </c:pt>
                <c:pt idx="1">
                  <c:v>6.75</c:v>
                </c:pt>
                <c:pt idx="2">
                  <c:v>25.874999999999996</c:v>
                </c:pt>
                <c:pt idx="3">
                  <c:v>11.25</c:v>
                </c:pt>
                <c:pt idx="4">
                  <c:v>2.9850000000000003</c:v>
                </c:pt>
                <c:pt idx="5">
                  <c:v>11.95</c:v>
                </c:pt>
                <c:pt idx="6">
                  <c:v>2.6850000000000009</c:v>
                </c:pt>
                <c:pt idx="7">
                  <c:v>4.754999999999999</c:v>
                </c:pt>
                <c:pt idx="8">
                  <c:v>8.9100000000000019</c:v>
                </c:pt>
                <c:pt idx="9">
                  <c:v>13.75</c:v>
                </c:pt>
                <c:pt idx="10">
                  <c:v>5.9700000000000015</c:v>
                </c:pt>
              </c:numCache>
            </c:numRef>
          </c:val>
          <c:smooth val="0"/>
          <c:extLst>
            <c:ext xmlns:c16="http://schemas.microsoft.com/office/drawing/2014/chart" uri="{C3380CC4-5D6E-409C-BE32-E72D297353CC}">
              <c16:uniqueId val="{00000001-57C5-4B04-A02E-3368E484F313}"/>
            </c:ext>
          </c:extLst>
        </c:ser>
        <c:ser>
          <c:idx val="2"/>
          <c:order val="2"/>
          <c:tx>
            <c:strRef>
              <c:f>'Pivot Tables'!$D$11</c:f>
              <c:strCache>
                <c:ptCount val="1"/>
                <c:pt idx="0">
                  <c:v>Global Average</c:v>
                </c:pt>
              </c:strCache>
            </c:strRef>
          </c:tx>
          <c:spPr>
            <a:ln w="28575" cap="rnd">
              <a:solidFill>
                <a:schemeClr val="accent4"/>
              </a:solidFill>
              <a:prstDash val="dash"/>
              <a:round/>
            </a:ln>
            <a:effectLst/>
          </c:spPr>
          <c:marker>
            <c:symbol val="none"/>
          </c:marker>
          <c:cat>
            <c:strRef>
              <c:f>'Pivot Tables'!$A$12:$A$23</c:f>
              <c:strCache>
                <c:ptCount val="11"/>
                <c:pt idx="0">
                  <c:v>R-L-0.2</c:v>
                </c:pt>
                <c:pt idx="1">
                  <c:v>A-M-0.5</c:v>
                </c:pt>
                <c:pt idx="2">
                  <c:v>A-M-2.5</c:v>
                </c:pt>
                <c:pt idx="3">
                  <c:v>A-M-1</c:v>
                </c:pt>
                <c:pt idx="4">
                  <c:v>A-D-0.2</c:v>
                </c:pt>
                <c:pt idx="5">
                  <c:v>R-L-1</c:v>
                </c:pt>
                <c:pt idx="6">
                  <c:v>R-D-0.2</c:v>
                </c:pt>
                <c:pt idx="7">
                  <c:v>L-L-0.2</c:v>
                </c:pt>
                <c:pt idx="8">
                  <c:v>E-L-0.5</c:v>
                </c:pt>
                <c:pt idx="9">
                  <c:v>E-M-1</c:v>
                </c:pt>
                <c:pt idx="10">
                  <c:v>A-D-0.5</c:v>
                </c:pt>
              </c:strCache>
            </c:strRef>
          </c:cat>
          <c:val>
            <c:numRef>
              <c:f>'Pivot Tables'!$D$12:$D$23</c:f>
              <c:numCache>
                <c:formatCode>General</c:formatCode>
                <c:ptCount val="11"/>
                <c:pt idx="0">
                  <c:v>12.71</c:v>
                </c:pt>
                <c:pt idx="1">
                  <c:v>12.71</c:v>
                </c:pt>
                <c:pt idx="2">
                  <c:v>12.71</c:v>
                </c:pt>
                <c:pt idx="3">
                  <c:v>12.71</c:v>
                </c:pt>
                <c:pt idx="4">
                  <c:v>12.71</c:v>
                </c:pt>
                <c:pt idx="5">
                  <c:v>12.71</c:v>
                </c:pt>
                <c:pt idx="6">
                  <c:v>12.71</c:v>
                </c:pt>
                <c:pt idx="7">
                  <c:v>12.71</c:v>
                </c:pt>
                <c:pt idx="8">
                  <c:v>12.71</c:v>
                </c:pt>
                <c:pt idx="9">
                  <c:v>12.71</c:v>
                </c:pt>
                <c:pt idx="10">
                  <c:v>12.71</c:v>
                </c:pt>
              </c:numCache>
            </c:numRef>
          </c:val>
          <c:smooth val="0"/>
          <c:extLst>
            <c:ext xmlns:c16="http://schemas.microsoft.com/office/drawing/2014/chart" uri="{C3380CC4-5D6E-409C-BE32-E72D297353CC}">
              <c16:uniqueId val="{00000002-57C5-4B04-A02E-3368E484F313}"/>
            </c:ext>
          </c:extLst>
        </c:ser>
        <c:dLbls>
          <c:showLegendKey val="0"/>
          <c:showVal val="0"/>
          <c:showCatName val="0"/>
          <c:showSerName val="0"/>
          <c:showPercent val="0"/>
          <c:showBubbleSize val="0"/>
        </c:dLbls>
        <c:marker val="1"/>
        <c:smooth val="0"/>
        <c:axId val="463898736"/>
        <c:axId val="463881936"/>
      </c:lineChart>
      <c:catAx>
        <c:axId val="463878096"/>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Product</a:t>
                </a:r>
                <a:r>
                  <a:rPr lang="en-GB" baseline="0" noProof="0" dirty="0">
                    <a:solidFill>
                      <a:srgbClr val="3C1464"/>
                    </a:solidFill>
                  </a:rPr>
                  <a:t> ID</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463895376"/>
        <c:crosses val="autoZero"/>
        <c:auto val="1"/>
        <c:lblAlgn val="ctr"/>
        <c:lblOffset val="100"/>
        <c:noMultiLvlLbl val="0"/>
      </c:catAx>
      <c:valAx>
        <c:axId val="463895376"/>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Total</a:t>
                </a:r>
                <a:r>
                  <a:rPr lang="en-GB" baseline="0" noProof="0" dirty="0">
                    <a:solidFill>
                      <a:srgbClr val="3C1464"/>
                    </a:solidFill>
                  </a:rPr>
                  <a:t> Units Sold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463878096"/>
        <c:crosses val="autoZero"/>
        <c:crossBetween val="between"/>
      </c:valAx>
      <c:valAx>
        <c:axId val="463881936"/>
        <c:scaling>
          <c:orientation val="minMax"/>
        </c:scaling>
        <c:delete val="0"/>
        <c:axPos val="r"/>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baseline="0" noProof="0" dirty="0">
                    <a:solidFill>
                      <a:srgbClr val="3C1464"/>
                    </a:solidFill>
                  </a:rPr>
                  <a:t>Revenue per Unit (USD)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463898736"/>
        <c:crosses val="max"/>
        <c:crossBetween val="between"/>
      </c:valAx>
      <c:catAx>
        <c:axId val="463898736"/>
        <c:scaling>
          <c:orientation val="minMax"/>
        </c:scaling>
        <c:delete val="1"/>
        <c:axPos val="b"/>
        <c:numFmt formatCode="General" sourceLinked="1"/>
        <c:majorTickMark val="out"/>
        <c:minorTickMark val="none"/>
        <c:tickLblPos val="nextTo"/>
        <c:crossAx val="46388193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Tables!AverageOrderSizeVSFrequency</c:name>
    <c:fmtId val="3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noProof="0" dirty="0">
                <a:solidFill>
                  <a:srgbClr val="3C1464"/>
                </a:solidFill>
              </a:rPr>
              <a:t>Average Order Value vs Purchase Frequency - Identifying High-Impact Customers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Tables'!$B$29</c:f>
              <c:strCache>
                <c:ptCount val="1"/>
                <c:pt idx="0">
                  <c:v>Average Order Cost (AOC)</c:v>
                </c:pt>
              </c:strCache>
            </c:strRef>
          </c:tx>
          <c:spPr>
            <a:solidFill>
              <a:srgbClr val="00B0F0"/>
            </a:solidFill>
            <a:ln>
              <a:noFill/>
            </a:ln>
            <a:effectLst/>
          </c:spPr>
          <c:invertIfNegative val="0"/>
          <c:cat>
            <c:strRef>
              <c:f>'Pivot Tables'!$A$30:$A$48</c:f>
              <c:strCache>
                <c:ptCount val="18"/>
                <c:pt idx="0">
                  <c:v>Brenn Dundredge</c:v>
                </c:pt>
                <c:pt idx="1">
                  <c:v>Marja Urion</c:v>
                </c:pt>
                <c:pt idx="2">
                  <c:v>Nealson Cuttler</c:v>
                </c:pt>
                <c:pt idx="3">
                  <c:v>Jimmy Dymoke</c:v>
                </c:pt>
                <c:pt idx="4">
                  <c:v>Faunie Brigham</c:v>
                </c:pt>
                <c:pt idx="5">
                  <c:v>Marguerite Graves</c:v>
                </c:pt>
                <c:pt idx="6">
                  <c:v>Cody Verissimo</c:v>
                </c:pt>
                <c:pt idx="7">
                  <c:v>Gladi Ducker</c:v>
                </c:pt>
                <c:pt idx="8">
                  <c:v>Ailey Brash</c:v>
                </c:pt>
                <c:pt idx="9">
                  <c:v>Terri Farra</c:v>
                </c:pt>
                <c:pt idx="10">
                  <c:v>Flynn Antony</c:v>
                </c:pt>
                <c:pt idx="11">
                  <c:v>Derick Snow</c:v>
                </c:pt>
                <c:pt idx="12">
                  <c:v>Don Flintiff</c:v>
                </c:pt>
                <c:pt idx="13">
                  <c:v>Allis Wilmore</c:v>
                </c:pt>
                <c:pt idx="14">
                  <c:v>Cordi Switsur</c:v>
                </c:pt>
                <c:pt idx="15">
                  <c:v>Adrian Swaine</c:v>
                </c:pt>
                <c:pt idx="16">
                  <c:v>Odelia Skerme</c:v>
                </c:pt>
                <c:pt idx="17">
                  <c:v>Foster Constance</c:v>
                </c:pt>
              </c:strCache>
            </c:strRef>
          </c:cat>
          <c:val>
            <c:numRef>
              <c:f>'Pivot Tables'!$B$30:$B$48</c:f>
              <c:numCache>
                <c:formatCode>0.00</c:formatCode>
                <c:ptCount val="18"/>
                <c:pt idx="0">
                  <c:v>43.863571428571433</c:v>
                </c:pt>
                <c:pt idx="1">
                  <c:v>31.798999999999999</c:v>
                </c:pt>
                <c:pt idx="2">
                  <c:v>56.334999999999994</c:v>
                </c:pt>
                <c:pt idx="3">
                  <c:v>24.076999999999998</c:v>
                </c:pt>
                <c:pt idx="4">
                  <c:v>40.929999999999993</c:v>
                </c:pt>
                <c:pt idx="5">
                  <c:v>22.653750000000002</c:v>
                </c:pt>
                <c:pt idx="6">
                  <c:v>45.914999999999992</c:v>
                </c:pt>
                <c:pt idx="7">
                  <c:v>23.626249999999999</c:v>
                </c:pt>
                <c:pt idx="8">
                  <c:v>51.65</c:v>
                </c:pt>
                <c:pt idx="9">
                  <c:v>72.277499999999989</c:v>
                </c:pt>
                <c:pt idx="10">
                  <c:v>40.1</c:v>
                </c:pt>
                <c:pt idx="11">
                  <c:v>83.708333333333329</c:v>
                </c:pt>
                <c:pt idx="12">
                  <c:v>92.67</c:v>
                </c:pt>
                <c:pt idx="13">
                  <c:v>105.68999999999998</c:v>
                </c:pt>
                <c:pt idx="14">
                  <c:v>25.58666666666667</c:v>
                </c:pt>
                <c:pt idx="15">
                  <c:v>36.675000000000004</c:v>
                </c:pt>
                <c:pt idx="16">
                  <c:v>15.61</c:v>
                </c:pt>
                <c:pt idx="17">
                  <c:v>47.261666666666663</c:v>
                </c:pt>
              </c:numCache>
            </c:numRef>
          </c:val>
          <c:extLst>
            <c:ext xmlns:c16="http://schemas.microsoft.com/office/drawing/2014/chart" uri="{C3380CC4-5D6E-409C-BE32-E72D297353CC}">
              <c16:uniqueId val="{00000000-8DC1-484F-85F7-CB6E9B3F3475}"/>
            </c:ext>
          </c:extLst>
        </c:ser>
        <c:dLbls>
          <c:showLegendKey val="0"/>
          <c:showVal val="0"/>
          <c:showCatName val="0"/>
          <c:showSerName val="0"/>
          <c:showPercent val="0"/>
          <c:showBubbleSize val="0"/>
        </c:dLbls>
        <c:gapWidth val="219"/>
        <c:overlap val="-27"/>
        <c:axId val="1980729343"/>
        <c:axId val="1980741823"/>
      </c:barChart>
      <c:lineChart>
        <c:grouping val="standard"/>
        <c:varyColors val="0"/>
        <c:ser>
          <c:idx val="1"/>
          <c:order val="1"/>
          <c:tx>
            <c:strRef>
              <c:f>'Pivot Tables'!$C$29</c:f>
              <c:strCache>
                <c:ptCount val="1"/>
                <c:pt idx="0">
                  <c:v>Order Frequency (OF)</c:v>
                </c:pt>
              </c:strCache>
            </c:strRef>
          </c:tx>
          <c:spPr>
            <a:ln w="28575" cap="rnd">
              <a:solidFill>
                <a:srgbClr val="FFC000"/>
              </a:solidFill>
              <a:round/>
            </a:ln>
            <a:effectLst/>
          </c:spPr>
          <c:marker>
            <c:symbol val="none"/>
          </c:marker>
          <c:cat>
            <c:strRef>
              <c:f>'Pivot Tables'!$A$30:$A$48</c:f>
              <c:strCache>
                <c:ptCount val="18"/>
                <c:pt idx="0">
                  <c:v>Brenn Dundredge</c:v>
                </c:pt>
                <c:pt idx="1">
                  <c:v>Marja Urion</c:v>
                </c:pt>
                <c:pt idx="2">
                  <c:v>Nealson Cuttler</c:v>
                </c:pt>
                <c:pt idx="3">
                  <c:v>Jimmy Dymoke</c:v>
                </c:pt>
                <c:pt idx="4">
                  <c:v>Faunie Brigham</c:v>
                </c:pt>
                <c:pt idx="5">
                  <c:v>Marguerite Graves</c:v>
                </c:pt>
                <c:pt idx="6">
                  <c:v>Cody Verissimo</c:v>
                </c:pt>
                <c:pt idx="7">
                  <c:v>Gladi Ducker</c:v>
                </c:pt>
                <c:pt idx="8">
                  <c:v>Ailey Brash</c:v>
                </c:pt>
                <c:pt idx="9">
                  <c:v>Terri Farra</c:v>
                </c:pt>
                <c:pt idx="10">
                  <c:v>Flynn Antony</c:v>
                </c:pt>
                <c:pt idx="11">
                  <c:v>Derick Snow</c:v>
                </c:pt>
                <c:pt idx="12">
                  <c:v>Don Flintiff</c:v>
                </c:pt>
                <c:pt idx="13">
                  <c:v>Allis Wilmore</c:v>
                </c:pt>
                <c:pt idx="14">
                  <c:v>Cordi Switsur</c:v>
                </c:pt>
                <c:pt idx="15">
                  <c:v>Adrian Swaine</c:v>
                </c:pt>
                <c:pt idx="16">
                  <c:v>Odelia Skerme</c:v>
                </c:pt>
                <c:pt idx="17">
                  <c:v>Foster Constance</c:v>
                </c:pt>
              </c:strCache>
            </c:strRef>
          </c:cat>
          <c:val>
            <c:numRef>
              <c:f>'Pivot Tables'!$C$30:$C$48</c:f>
              <c:numCache>
                <c:formatCode>General</c:formatCode>
                <c:ptCount val="18"/>
                <c:pt idx="0">
                  <c:v>7</c:v>
                </c:pt>
                <c:pt idx="1">
                  <c:v>5</c:v>
                </c:pt>
                <c:pt idx="2">
                  <c:v>5</c:v>
                </c:pt>
                <c:pt idx="3">
                  <c:v>5</c:v>
                </c:pt>
                <c:pt idx="4">
                  <c:v>4</c:v>
                </c:pt>
                <c:pt idx="5">
                  <c:v>4</c:v>
                </c:pt>
                <c:pt idx="6">
                  <c:v>4</c:v>
                </c:pt>
                <c:pt idx="7">
                  <c:v>4</c:v>
                </c:pt>
                <c:pt idx="8">
                  <c:v>4</c:v>
                </c:pt>
                <c:pt idx="9">
                  <c:v>4</c:v>
                </c:pt>
                <c:pt idx="10">
                  <c:v>4</c:v>
                </c:pt>
                <c:pt idx="11">
                  <c:v>3</c:v>
                </c:pt>
                <c:pt idx="12">
                  <c:v>3</c:v>
                </c:pt>
                <c:pt idx="13">
                  <c:v>3</c:v>
                </c:pt>
                <c:pt idx="14">
                  <c:v>3</c:v>
                </c:pt>
                <c:pt idx="15">
                  <c:v>3</c:v>
                </c:pt>
                <c:pt idx="16">
                  <c:v>3</c:v>
                </c:pt>
                <c:pt idx="17">
                  <c:v>3</c:v>
                </c:pt>
              </c:numCache>
            </c:numRef>
          </c:val>
          <c:smooth val="0"/>
          <c:extLst>
            <c:ext xmlns:c16="http://schemas.microsoft.com/office/drawing/2014/chart" uri="{C3380CC4-5D6E-409C-BE32-E72D297353CC}">
              <c16:uniqueId val="{00000001-8DC1-484F-85F7-CB6E9B3F3475}"/>
            </c:ext>
          </c:extLst>
        </c:ser>
        <c:dLbls>
          <c:showLegendKey val="0"/>
          <c:showVal val="0"/>
          <c:showCatName val="0"/>
          <c:showSerName val="0"/>
          <c:showPercent val="0"/>
          <c:showBubbleSize val="0"/>
        </c:dLbls>
        <c:marker val="1"/>
        <c:smooth val="0"/>
        <c:axId val="1980743743"/>
        <c:axId val="1980733183"/>
      </c:lineChart>
      <c:catAx>
        <c:axId val="1980729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980741823"/>
        <c:crosses val="autoZero"/>
        <c:auto val="1"/>
        <c:lblAlgn val="ctr"/>
        <c:lblOffset val="100"/>
        <c:noMultiLvlLbl val="0"/>
      </c:catAx>
      <c:valAx>
        <c:axId val="1980741823"/>
        <c:scaling>
          <c:orientation val="minMax"/>
        </c:scaling>
        <c:delete val="0"/>
        <c:axPos val="l"/>
        <c:majorGridlines>
          <c:spPr>
            <a:ln w="9525" cap="flat" cmpd="sng" algn="ctr">
              <a:solidFill>
                <a:schemeClr val="bg1"/>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980729343"/>
        <c:crosses val="autoZero"/>
        <c:crossBetween val="between"/>
      </c:valAx>
      <c:valAx>
        <c:axId val="1980733183"/>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980743743"/>
        <c:crosses val="max"/>
        <c:crossBetween val="between"/>
      </c:valAx>
      <c:catAx>
        <c:axId val="1980743743"/>
        <c:scaling>
          <c:orientation val="minMax"/>
        </c:scaling>
        <c:delete val="1"/>
        <c:axPos val="b"/>
        <c:numFmt formatCode="General" sourceLinked="1"/>
        <c:majorTickMark val="out"/>
        <c:minorTickMark val="none"/>
        <c:tickLblPos val="nextTo"/>
        <c:crossAx val="198073318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Tables!Freq/CustomerCount</c:name>
    <c:fmtId val="31"/>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GB" sz="1400" b="0" i="0" u="none" strike="noStrike" kern="1200" spc="0" baseline="0" noProof="0" dirty="0">
                <a:solidFill>
                  <a:srgbClr val="3C1464"/>
                </a:solidFill>
              </a:rPr>
              <a:t>Customers Frequency Distribution</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a:solidFill>
              <a:schemeClr val="bg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w="0">
            <a:noFill/>
          </a:ln>
          <a:effectLst/>
        </c:spPr>
      </c:pivotFmt>
      <c:pivotFmt>
        <c:idx val="4"/>
        <c:spPr>
          <a:solidFill>
            <a:schemeClr val="accent5"/>
          </a:solidFill>
          <a:ln w="28575">
            <a:noFill/>
          </a:ln>
          <a:effectLst/>
        </c:spPr>
      </c:pivotFmt>
      <c:pivotFmt>
        <c:idx val="5"/>
        <c:spPr>
          <a:solidFill>
            <a:srgbClr val="FFFF00"/>
          </a:solidFill>
          <a:ln w="28575">
            <a:solidFill>
              <a:srgbClr val="FFFF00"/>
            </a:solidFill>
          </a:ln>
          <a:effectLst/>
        </c:spPr>
      </c:pivotFmt>
      <c:pivotFmt>
        <c:idx val="6"/>
        <c:spPr>
          <a:solidFill>
            <a:schemeClr val="accent1"/>
          </a:solidFill>
          <a:ln w="28575">
            <a:solidFill>
              <a:schemeClr val="bg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w="0">
            <a:noFill/>
          </a:ln>
          <a:effectLst/>
        </c:spPr>
      </c:pivotFmt>
      <c:pivotFmt>
        <c:idx val="8"/>
        <c:spPr>
          <a:solidFill>
            <a:schemeClr val="accent5"/>
          </a:solidFill>
          <a:ln w="28575">
            <a:noFill/>
          </a:ln>
          <a:effectLst/>
        </c:spPr>
      </c:pivotFmt>
      <c:pivotFmt>
        <c:idx val="9"/>
        <c:spPr>
          <a:solidFill>
            <a:srgbClr val="FFFF00"/>
          </a:solidFill>
          <a:ln w="28575">
            <a:solidFill>
              <a:srgbClr val="FFFF00"/>
            </a:solidFill>
          </a:ln>
          <a:effectLst/>
        </c:spPr>
      </c:pivotFmt>
      <c:pivotFmt>
        <c:idx val="10"/>
        <c:spPr>
          <a:solidFill>
            <a:schemeClr val="accent1"/>
          </a:solidFill>
          <a:ln w="28575">
            <a:solidFill>
              <a:schemeClr val="bg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6"/>
          </a:solidFill>
          <a:ln w="0">
            <a:noFill/>
          </a:ln>
          <a:effectLst/>
        </c:spPr>
      </c:pivotFmt>
      <c:pivotFmt>
        <c:idx val="12"/>
        <c:spPr>
          <a:solidFill>
            <a:schemeClr val="accent5"/>
          </a:solidFill>
          <a:ln w="28575">
            <a:noFill/>
          </a:ln>
          <a:effectLst/>
        </c:spPr>
      </c:pivotFmt>
      <c:pivotFmt>
        <c:idx val="13"/>
        <c:spPr>
          <a:solidFill>
            <a:srgbClr val="FFFF00"/>
          </a:solidFill>
          <a:ln w="28575">
            <a:solidFill>
              <a:srgbClr val="FFFF00"/>
            </a:solidFill>
          </a:ln>
          <a:effectLst/>
        </c:spPr>
      </c:pivotFmt>
      <c:pivotFmt>
        <c:idx val="14"/>
        <c:spPr>
          <a:solidFill>
            <a:schemeClr val="accent1"/>
          </a:solidFill>
          <a:ln w="28575">
            <a:solidFill>
              <a:schemeClr val="bg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6"/>
          </a:solidFill>
          <a:ln w="0">
            <a:noFill/>
          </a:ln>
          <a:effectLst/>
        </c:spPr>
      </c:pivotFmt>
      <c:pivotFmt>
        <c:idx val="16"/>
        <c:spPr>
          <a:solidFill>
            <a:schemeClr val="accent5"/>
          </a:solidFill>
          <a:ln w="28575">
            <a:noFill/>
          </a:ln>
          <a:effectLst/>
        </c:spPr>
      </c:pivotFmt>
      <c:pivotFmt>
        <c:idx val="17"/>
        <c:spPr>
          <a:solidFill>
            <a:srgbClr val="FFFF00"/>
          </a:solidFill>
          <a:ln w="28575">
            <a:solidFill>
              <a:srgbClr val="FFFF00"/>
            </a:solidFill>
          </a:ln>
          <a:effectLst/>
        </c:spPr>
      </c:pivotFmt>
    </c:pivotFmts>
    <c:plotArea>
      <c:layout/>
      <c:barChart>
        <c:barDir val="col"/>
        <c:grouping val="clustered"/>
        <c:varyColors val="0"/>
        <c:ser>
          <c:idx val="0"/>
          <c:order val="0"/>
          <c:tx>
            <c:strRef>
              <c:f>'Pivot Tables'!$G$29</c:f>
              <c:strCache>
                <c:ptCount val="1"/>
                <c:pt idx="0">
                  <c:v>Total</c:v>
                </c:pt>
              </c:strCache>
            </c:strRef>
          </c:tx>
          <c:spPr>
            <a:solidFill>
              <a:schemeClr val="accent1"/>
            </a:solidFill>
            <a:ln w="28575">
              <a:solidFill>
                <a:schemeClr val="bg1"/>
              </a:solidFill>
            </a:ln>
            <a:effectLst/>
          </c:spPr>
          <c:invertIfNegative val="0"/>
          <c:dPt>
            <c:idx val="0"/>
            <c:invertIfNegative val="0"/>
            <c:bubble3D val="0"/>
            <c:spPr>
              <a:solidFill>
                <a:srgbClr val="92D050"/>
              </a:solidFill>
              <a:ln w="0">
                <a:noFill/>
              </a:ln>
              <a:effectLst/>
            </c:spPr>
            <c:extLst>
              <c:ext xmlns:c16="http://schemas.microsoft.com/office/drawing/2014/chart" uri="{C3380CC4-5D6E-409C-BE32-E72D297353CC}">
                <c16:uniqueId val="{00000001-429C-4161-BA21-0A3A4BDF0307}"/>
              </c:ext>
            </c:extLst>
          </c:dPt>
          <c:dPt>
            <c:idx val="1"/>
            <c:invertIfNegative val="0"/>
            <c:bubble3D val="0"/>
            <c:spPr>
              <a:solidFill>
                <a:srgbClr val="00B0F0"/>
              </a:solidFill>
              <a:ln w="28575">
                <a:noFill/>
              </a:ln>
              <a:effectLst/>
            </c:spPr>
            <c:extLst>
              <c:ext xmlns:c16="http://schemas.microsoft.com/office/drawing/2014/chart" uri="{C3380CC4-5D6E-409C-BE32-E72D297353CC}">
                <c16:uniqueId val="{00000003-429C-4161-BA21-0A3A4BDF0307}"/>
              </c:ext>
            </c:extLst>
          </c:dPt>
          <c:dPt>
            <c:idx val="2"/>
            <c:invertIfNegative val="0"/>
            <c:bubble3D val="0"/>
            <c:spPr>
              <a:solidFill>
                <a:srgbClr val="FFFF00"/>
              </a:solidFill>
              <a:ln w="28575">
                <a:solidFill>
                  <a:srgbClr val="FFFF00"/>
                </a:solidFill>
              </a:ln>
              <a:effectLst/>
            </c:spPr>
            <c:extLst>
              <c:ext xmlns:c16="http://schemas.microsoft.com/office/drawing/2014/chart" uri="{C3380CC4-5D6E-409C-BE32-E72D297353CC}">
                <c16:uniqueId val="{00000005-429C-4161-BA21-0A3A4BDF0307}"/>
              </c:ext>
            </c:extLst>
          </c:dPt>
          <c:cat>
            <c:strRef>
              <c:f>'Pivot Tables'!$F$30:$F$33</c:f>
              <c:strCache>
                <c:ptCount val="3"/>
                <c:pt idx="0">
                  <c:v>Less than 2</c:v>
                </c:pt>
                <c:pt idx="1">
                  <c:v>Between 4 and 2</c:v>
                </c:pt>
                <c:pt idx="2">
                  <c:v>More than 4</c:v>
                </c:pt>
              </c:strCache>
            </c:strRef>
          </c:cat>
          <c:val>
            <c:numRef>
              <c:f>'Pivot Tables'!$G$30:$G$33</c:f>
              <c:numCache>
                <c:formatCode>General</c:formatCode>
                <c:ptCount val="3"/>
                <c:pt idx="0">
                  <c:v>926</c:v>
                </c:pt>
                <c:pt idx="1">
                  <c:v>69</c:v>
                </c:pt>
                <c:pt idx="2">
                  <c:v>5</c:v>
                </c:pt>
              </c:numCache>
            </c:numRef>
          </c:val>
          <c:extLst>
            <c:ext xmlns:c16="http://schemas.microsoft.com/office/drawing/2014/chart" uri="{C3380CC4-5D6E-409C-BE32-E72D297353CC}">
              <c16:uniqueId val="{00000006-429C-4161-BA21-0A3A4BDF0307}"/>
            </c:ext>
          </c:extLst>
        </c:ser>
        <c:dLbls>
          <c:showLegendKey val="0"/>
          <c:showVal val="0"/>
          <c:showCatName val="0"/>
          <c:showSerName val="0"/>
          <c:showPercent val="0"/>
          <c:showBubbleSize val="0"/>
        </c:dLbls>
        <c:gapWidth val="219"/>
        <c:overlap val="-27"/>
        <c:axId val="1900653872"/>
        <c:axId val="1900656272"/>
      </c:barChart>
      <c:catAx>
        <c:axId val="1900653872"/>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Frequency</a:t>
                </a:r>
                <a:r>
                  <a:rPr lang="en-GB" baseline="0" noProof="0" dirty="0">
                    <a:solidFill>
                      <a:srgbClr val="3C1464"/>
                    </a:solidFill>
                  </a:rPr>
                  <a:t> Group</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900656272"/>
        <c:crosses val="autoZero"/>
        <c:auto val="1"/>
        <c:lblAlgn val="ctr"/>
        <c:lblOffset val="100"/>
        <c:noMultiLvlLbl val="0"/>
      </c:catAx>
      <c:valAx>
        <c:axId val="1900656272"/>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Customer</a:t>
                </a:r>
                <a:r>
                  <a:rPr lang="en-GB" baseline="0" noProof="0" dirty="0">
                    <a:solidFill>
                      <a:srgbClr val="3C1464"/>
                    </a:solidFill>
                  </a:rPr>
                  <a:t> Count</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9006538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Tables!CustSeg/AOC</c:name>
    <c:fmtId val="30"/>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GB" sz="1400" b="0" i="0" u="none" strike="noStrike" kern="1200" spc="0" baseline="0" noProof="0" dirty="0">
                <a:solidFill>
                  <a:srgbClr val="3C1464"/>
                </a:solidFill>
              </a:rPr>
              <a:t>Average Order Size by Customer Value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pivotFmt>
      <c:pivotFmt>
        <c:idx val="2"/>
        <c:spPr>
          <a:solidFill>
            <a:schemeClr val="accent5"/>
          </a:solidFill>
          <a:ln>
            <a:noFill/>
          </a:ln>
          <a:effectLst/>
        </c:spPr>
      </c:pivotFmt>
      <c:pivotFmt>
        <c:idx val="3"/>
        <c:spPr>
          <a:solidFill>
            <a:srgbClr val="FFFF00"/>
          </a:solidFill>
          <a:ln>
            <a:noFill/>
          </a:ln>
          <a:effectLst/>
        </c:spP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pivotFmt>
      <c:pivotFmt>
        <c:idx val="6"/>
        <c:spPr>
          <a:solidFill>
            <a:schemeClr val="accent5"/>
          </a:solidFill>
          <a:ln>
            <a:noFill/>
          </a:ln>
          <a:effectLst/>
        </c:spPr>
      </c:pivotFmt>
      <c:pivotFmt>
        <c:idx val="7"/>
        <c:spPr>
          <a:solidFill>
            <a:srgbClr val="FFFF00"/>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pivotFmt>
      <c:pivotFmt>
        <c:idx val="10"/>
        <c:spPr>
          <a:solidFill>
            <a:schemeClr val="accent5"/>
          </a:solidFill>
          <a:ln>
            <a:noFill/>
          </a:ln>
          <a:effectLst/>
        </c:spPr>
      </c:pivotFmt>
      <c:pivotFmt>
        <c:idx val="11"/>
        <c:spPr>
          <a:solidFill>
            <a:srgbClr val="FFFF00"/>
          </a:solidFill>
          <a:ln>
            <a:noFill/>
          </a:ln>
          <a:effectLst/>
        </c:spPr>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6"/>
          </a:solidFill>
          <a:ln>
            <a:noFill/>
          </a:ln>
          <a:effectLst/>
        </c:spPr>
      </c:pivotFmt>
      <c:pivotFmt>
        <c:idx val="14"/>
        <c:spPr>
          <a:solidFill>
            <a:schemeClr val="accent5"/>
          </a:solidFill>
          <a:ln>
            <a:noFill/>
          </a:ln>
          <a:effectLst/>
        </c:spPr>
      </c:pivotFmt>
      <c:pivotFmt>
        <c:idx val="15"/>
        <c:spPr>
          <a:solidFill>
            <a:srgbClr val="FFFF00"/>
          </a:solidFill>
          <a:ln>
            <a:noFill/>
          </a:ln>
          <a:effectLst/>
        </c:spPr>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6"/>
          </a:solidFill>
          <a:ln>
            <a:noFill/>
          </a:ln>
          <a:effectLst/>
        </c:spPr>
      </c:pivotFmt>
      <c:pivotFmt>
        <c:idx val="18"/>
        <c:spPr>
          <a:solidFill>
            <a:schemeClr val="accent5"/>
          </a:solidFill>
          <a:ln>
            <a:noFill/>
          </a:ln>
          <a:effectLst/>
        </c:spPr>
      </c:pivotFmt>
      <c:pivotFmt>
        <c:idx val="19"/>
        <c:spPr>
          <a:solidFill>
            <a:srgbClr val="FFFF00"/>
          </a:solidFill>
          <a:ln>
            <a:noFill/>
          </a:ln>
          <a:effectLst/>
        </c:spPr>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6"/>
          </a:solidFill>
          <a:ln>
            <a:noFill/>
          </a:ln>
          <a:effectLst/>
        </c:spPr>
      </c:pivotFmt>
      <c:pivotFmt>
        <c:idx val="22"/>
        <c:spPr>
          <a:solidFill>
            <a:schemeClr val="accent5"/>
          </a:solidFill>
          <a:ln>
            <a:noFill/>
          </a:ln>
          <a:effectLst/>
        </c:spPr>
      </c:pivotFmt>
      <c:pivotFmt>
        <c:idx val="23"/>
        <c:spPr>
          <a:solidFill>
            <a:srgbClr val="FFFF00"/>
          </a:solidFill>
          <a:ln>
            <a:noFill/>
          </a:ln>
          <a:effectLst/>
        </c:spPr>
      </c:pivotFmt>
    </c:pivotFmts>
    <c:plotArea>
      <c:layout/>
      <c:barChart>
        <c:barDir val="col"/>
        <c:grouping val="clustered"/>
        <c:varyColors val="0"/>
        <c:ser>
          <c:idx val="0"/>
          <c:order val="0"/>
          <c:tx>
            <c:strRef>
              <c:f>'Pivot Tables'!$J$29</c:f>
              <c:strCache>
                <c:ptCount val="1"/>
                <c:pt idx="0">
                  <c:v>Total</c:v>
                </c:pt>
              </c:strCache>
            </c:strRef>
          </c:tx>
          <c:spPr>
            <a:solidFill>
              <a:schemeClr val="accent1"/>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1-B1C5-4DE6-9145-4F9FB01C6AC5}"/>
              </c:ext>
            </c:extLst>
          </c:dPt>
          <c:dPt>
            <c:idx val="1"/>
            <c:invertIfNegative val="0"/>
            <c:bubble3D val="0"/>
            <c:spPr>
              <a:solidFill>
                <a:srgbClr val="00B0F0"/>
              </a:solidFill>
              <a:ln>
                <a:noFill/>
              </a:ln>
              <a:effectLst/>
            </c:spPr>
            <c:extLst>
              <c:ext xmlns:c16="http://schemas.microsoft.com/office/drawing/2014/chart" uri="{C3380CC4-5D6E-409C-BE32-E72D297353CC}">
                <c16:uniqueId val="{00000003-B1C5-4DE6-9145-4F9FB01C6AC5}"/>
              </c:ext>
            </c:extLst>
          </c:dPt>
          <c:dPt>
            <c:idx val="2"/>
            <c:invertIfNegative val="0"/>
            <c:bubble3D val="0"/>
            <c:spPr>
              <a:solidFill>
                <a:srgbClr val="FFFF00"/>
              </a:solidFill>
              <a:ln>
                <a:noFill/>
              </a:ln>
              <a:effectLst/>
            </c:spPr>
            <c:extLst>
              <c:ext xmlns:c16="http://schemas.microsoft.com/office/drawing/2014/chart" uri="{C3380CC4-5D6E-409C-BE32-E72D297353CC}">
                <c16:uniqueId val="{00000005-B1C5-4DE6-9145-4F9FB01C6AC5}"/>
              </c:ext>
            </c:extLst>
          </c:dPt>
          <c:cat>
            <c:strRef>
              <c:f>'Pivot Tables'!$I$30:$I$33</c:f>
              <c:strCache>
                <c:ptCount val="3"/>
                <c:pt idx="0">
                  <c:v>High Value</c:v>
                </c:pt>
                <c:pt idx="1">
                  <c:v>Low Value</c:v>
                </c:pt>
                <c:pt idx="2">
                  <c:v>Medium Value</c:v>
                </c:pt>
              </c:strCache>
            </c:strRef>
          </c:cat>
          <c:val>
            <c:numRef>
              <c:f>'Pivot Tables'!$J$30:$J$33</c:f>
              <c:numCache>
                <c:formatCode>0.00</c:formatCode>
                <c:ptCount val="3"/>
                <c:pt idx="0">
                  <c:v>56.334999999999994</c:v>
                </c:pt>
                <c:pt idx="1">
                  <c:v>45.604730021598314</c:v>
                </c:pt>
                <c:pt idx="2">
                  <c:v>38.008695652173913</c:v>
                </c:pt>
              </c:numCache>
            </c:numRef>
          </c:val>
          <c:extLst>
            <c:ext xmlns:c16="http://schemas.microsoft.com/office/drawing/2014/chart" uri="{C3380CC4-5D6E-409C-BE32-E72D297353CC}">
              <c16:uniqueId val="{00000006-B1C5-4DE6-9145-4F9FB01C6AC5}"/>
            </c:ext>
          </c:extLst>
        </c:ser>
        <c:dLbls>
          <c:showLegendKey val="0"/>
          <c:showVal val="0"/>
          <c:showCatName val="0"/>
          <c:showSerName val="0"/>
          <c:showPercent val="0"/>
          <c:showBubbleSize val="0"/>
        </c:dLbls>
        <c:gapWidth val="219"/>
        <c:overlap val="-27"/>
        <c:axId val="1426484000"/>
        <c:axId val="1426490240"/>
      </c:barChart>
      <c:catAx>
        <c:axId val="14264840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000" b="0" i="0" u="none" strike="noStrike" kern="1200" baseline="0" noProof="0" dirty="0">
                    <a:solidFill>
                      <a:srgbClr val="3C1464"/>
                    </a:solidFill>
                  </a:rPr>
                  <a:t>Customer Group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426490240"/>
        <c:crosses val="autoZero"/>
        <c:auto val="1"/>
        <c:lblAlgn val="ctr"/>
        <c:lblOffset val="100"/>
        <c:noMultiLvlLbl val="0"/>
      </c:catAx>
      <c:valAx>
        <c:axId val="1426490240"/>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sz="1000" b="0" i="0" u="none" strike="noStrike" kern="1200" baseline="0" noProof="0" dirty="0">
                    <a:solidFill>
                      <a:srgbClr val="3C1464"/>
                    </a:solidFill>
                  </a:rPr>
                  <a:t>Average Order Value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4264840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Tables!ProductPreference</c:name>
    <c:fmtId val="35"/>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Product Preferences of High-Value Customers by Roast Type &amp; Pack Size</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Tables'!$G$37:$G$39</c:f>
              <c:strCache>
                <c:ptCount val="1"/>
                <c:pt idx="0">
                  <c:v>Dark - 2.5 kg</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Tables'!$F$40:$F$42</c:f>
              <c:strCache>
                <c:ptCount val="2"/>
                <c:pt idx="0">
                  <c:v>Excelsa</c:v>
                </c:pt>
                <c:pt idx="1">
                  <c:v>Liberica</c:v>
                </c:pt>
              </c:strCache>
            </c:strRef>
          </c:cat>
          <c:val>
            <c:numRef>
              <c:f>'Pivot Tables'!$G$40:$G$42</c:f>
              <c:numCache>
                <c:formatCode>_([$$-409]* #,##0.00_);_([$$-409]* \(#,##0.00\);_([$$-409]* "-"??_);_(@_)</c:formatCode>
                <c:ptCount val="2"/>
                <c:pt idx="1">
                  <c:v>148.92499999999998</c:v>
                </c:pt>
              </c:numCache>
            </c:numRef>
          </c:val>
          <c:extLst>
            <c:ext xmlns:c16="http://schemas.microsoft.com/office/drawing/2014/chart" uri="{C3380CC4-5D6E-409C-BE32-E72D297353CC}">
              <c16:uniqueId val="{00000000-5332-4E94-9106-5A4AC68EA641}"/>
            </c:ext>
          </c:extLst>
        </c:ser>
        <c:ser>
          <c:idx val="1"/>
          <c:order val="1"/>
          <c:tx>
            <c:strRef>
              <c:f>'Pivot Tables'!$H$37:$H$39</c:f>
              <c:strCache>
                <c:ptCount val="1"/>
                <c:pt idx="0">
                  <c:v>Light - 0.5 kg</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Tables'!$F$40:$F$42</c:f>
              <c:strCache>
                <c:ptCount val="2"/>
                <c:pt idx="0">
                  <c:v>Excelsa</c:v>
                </c:pt>
                <c:pt idx="1">
                  <c:v>Liberica</c:v>
                </c:pt>
              </c:strCache>
            </c:strRef>
          </c:cat>
          <c:val>
            <c:numRef>
              <c:f>'Pivot Tables'!$H$40:$H$42</c:f>
              <c:numCache>
                <c:formatCode>_([$$-409]* #,##0.00_);_([$$-409]* \(#,##0.00\);_([$$-409]* "-"??_);_(@_)</c:formatCode>
                <c:ptCount val="2"/>
                <c:pt idx="0">
                  <c:v>53.46</c:v>
                </c:pt>
                <c:pt idx="1">
                  <c:v>38.04</c:v>
                </c:pt>
              </c:numCache>
            </c:numRef>
          </c:val>
          <c:extLst>
            <c:ext xmlns:c16="http://schemas.microsoft.com/office/drawing/2014/chart" uri="{C3380CC4-5D6E-409C-BE32-E72D297353CC}">
              <c16:uniqueId val="{00000001-5332-4E94-9106-5A4AC68EA641}"/>
            </c:ext>
          </c:extLst>
        </c:ser>
        <c:ser>
          <c:idx val="2"/>
          <c:order val="2"/>
          <c:tx>
            <c:strRef>
              <c:f>'Pivot Tables'!$I$37:$I$39</c:f>
              <c:strCache>
                <c:ptCount val="1"/>
                <c:pt idx="0">
                  <c:v>Medium - 1.0 kg</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Tables'!$F$40:$F$42</c:f>
              <c:strCache>
                <c:ptCount val="2"/>
                <c:pt idx="0">
                  <c:v>Excelsa</c:v>
                </c:pt>
                <c:pt idx="1">
                  <c:v>Liberica</c:v>
                </c:pt>
              </c:strCache>
            </c:strRef>
          </c:cat>
          <c:val>
            <c:numRef>
              <c:f>'Pivot Tables'!$I$40:$I$42</c:f>
              <c:numCache>
                <c:formatCode>General</c:formatCode>
                <c:ptCount val="2"/>
                <c:pt idx="0" formatCode="_([$$-409]* #,##0.00_);_([$$-409]* \(#,##0.00\);_([$$-409]* &quot;-&quot;??_);_(@_)">
                  <c:v>41.25</c:v>
                </c:pt>
              </c:numCache>
            </c:numRef>
          </c:val>
          <c:extLst>
            <c:ext xmlns:c16="http://schemas.microsoft.com/office/drawing/2014/chart" uri="{C3380CC4-5D6E-409C-BE32-E72D297353CC}">
              <c16:uniqueId val="{00000002-5332-4E94-9106-5A4AC68EA641}"/>
            </c:ext>
          </c:extLst>
        </c:ser>
        <c:dLbls>
          <c:showLegendKey val="0"/>
          <c:showVal val="0"/>
          <c:showCatName val="0"/>
          <c:showSerName val="0"/>
          <c:showPercent val="0"/>
          <c:showBubbleSize val="0"/>
        </c:dLbls>
        <c:gapWidth val="182"/>
        <c:axId val="912266480"/>
        <c:axId val="912267440"/>
      </c:barChart>
      <c:catAx>
        <c:axId val="912266480"/>
        <c:scaling>
          <c:orientation val="minMax"/>
        </c:scaling>
        <c:delete val="0"/>
        <c:axPos val="l"/>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sz="1000" b="0" i="0" u="none" strike="noStrike" baseline="0" noProof="0" dirty="0">
                    <a:solidFill>
                      <a:srgbClr val="3C1464"/>
                    </a:solidFill>
                  </a:rPr>
                  <a:t>Coffee Type</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912267440"/>
        <c:crosses val="autoZero"/>
        <c:auto val="1"/>
        <c:lblAlgn val="ctr"/>
        <c:lblOffset val="100"/>
        <c:noMultiLvlLbl val="0"/>
      </c:catAx>
      <c:valAx>
        <c:axId val="912267440"/>
        <c:scaling>
          <c:orientation val="minMax"/>
        </c:scaling>
        <c:delete val="0"/>
        <c:axPos val="b"/>
        <c:majorGridlines>
          <c:spPr>
            <a:ln w="9525" cap="flat" cmpd="sng" algn="ctr">
              <a:solidFill>
                <a:schemeClr val="bg1"/>
              </a:solidFill>
              <a:round/>
            </a:ln>
            <a:effectLst/>
          </c:spPr>
        </c:majorGridlines>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Sales (USD)</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912266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Tables!ProductMixPivot</c:name>
    <c:fmtId val="125"/>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Product Mix &amp; Purchasing Intensity by Customer Frequency</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'Pivot Tables'!$E$65:$E$66</c:f>
              <c:strCache>
                <c:ptCount val="1"/>
                <c:pt idx="0">
                  <c:v>Arabica</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Tables'!$D$67:$D$70</c:f>
              <c:strCache>
                <c:ptCount val="3"/>
                <c:pt idx="0">
                  <c:v>Between 4 and 2</c:v>
                </c:pt>
                <c:pt idx="1">
                  <c:v>Less than 2</c:v>
                </c:pt>
                <c:pt idx="2">
                  <c:v>More than 4</c:v>
                </c:pt>
              </c:strCache>
            </c:strRef>
          </c:cat>
          <c:val>
            <c:numRef>
              <c:f>'Pivot Tables'!$E$67:$E$70</c:f>
              <c:numCache>
                <c:formatCode>0.00</c:formatCode>
                <c:ptCount val="3"/>
                <c:pt idx="0">
                  <c:v>29.752105263157897</c:v>
                </c:pt>
                <c:pt idx="1">
                  <c:v>45.727367346938777</c:v>
                </c:pt>
              </c:numCache>
            </c:numRef>
          </c:val>
          <c:extLst>
            <c:ext xmlns:c16="http://schemas.microsoft.com/office/drawing/2014/chart" uri="{C3380CC4-5D6E-409C-BE32-E72D297353CC}">
              <c16:uniqueId val="{00000000-6DA7-427B-B473-BF3A9B7AE8D7}"/>
            </c:ext>
          </c:extLst>
        </c:ser>
        <c:ser>
          <c:idx val="1"/>
          <c:order val="1"/>
          <c:tx>
            <c:strRef>
              <c:f>'Pivot Tables'!$F$65:$F$66</c:f>
              <c:strCache>
                <c:ptCount val="1"/>
                <c:pt idx="0">
                  <c:v>Excelsa</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Tables'!$D$67:$D$70</c:f>
              <c:strCache>
                <c:ptCount val="3"/>
                <c:pt idx="0">
                  <c:v>Between 4 and 2</c:v>
                </c:pt>
                <c:pt idx="1">
                  <c:v>Less than 2</c:v>
                </c:pt>
                <c:pt idx="2">
                  <c:v>More than 4</c:v>
                </c:pt>
              </c:strCache>
            </c:strRef>
          </c:cat>
          <c:val>
            <c:numRef>
              <c:f>'Pivot Tables'!$F$67:$F$70</c:f>
              <c:numCache>
                <c:formatCode>0.00</c:formatCode>
                <c:ptCount val="3"/>
                <c:pt idx="0">
                  <c:v>39.737619047619056</c:v>
                </c:pt>
                <c:pt idx="1">
                  <c:v>50.791249999999984</c:v>
                </c:pt>
                <c:pt idx="2">
                  <c:v>47.355000000000004</c:v>
                </c:pt>
              </c:numCache>
            </c:numRef>
          </c:val>
          <c:extLst>
            <c:ext xmlns:c16="http://schemas.microsoft.com/office/drawing/2014/chart" uri="{C3380CC4-5D6E-409C-BE32-E72D297353CC}">
              <c16:uniqueId val="{00000001-6DA7-427B-B473-BF3A9B7AE8D7}"/>
            </c:ext>
          </c:extLst>
        </c:ser>
        <c:ser>
          <c:idx val="2"/>
          <c:order val="2"/>
          <c:tx>
            <c:strRef>
              <c:f>'Pivot Tables'!$G$65:$G$66</c:f>
              <c:strCache>
                <c:ptCount val="1"/>
                <c:pt idx="0">
                  <c:v>Liberica</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Tables'!$D$67:$D$70</c:f>
              <c:strCache>
                <c:ptCount val="3"/>
                <c:pt idx="0">
                  <c:v>Between 4 and 2</c:v>
                </c:pt>
                <c:pt idx="1">
                  <c:v>Less than 2</c:v>
                </c:pt>
                <c:pt idx="2">
                  <c:v>More than 4</c:v>
                </c:pt>
              </c:strCache>
            </c:strRef>
          </c:cat>
          <c:val>
            <c:numRef>
              <c:f>'Pivot Tables'!$G$67:$G$70</c:f>
              <c:numCache>
                <c:formatCode>0.00</c:formatCode>
                <c:ptCount val="3"/>
                <c:pt idx="0">
                  <c:v>42.046999999999997</c:v>
                </c:pt>
                <c:pt idx="1">
                  <c:v>48.853934782608668</c:v>
                </c:pt>
                <c:pt idx="2">
                  <c:v>62.321666666666658</c:v>
                </c:pt>
              </c:numCache>
            </c:numRef>
          </c:val>
          <c:extLst>
            <c:ext xmlns:c16="http://schemas.microsoft.com/office/drawing/2014/chart" uri="{C3380CC4-5D6E-409C-BE32-E72D297353CC}">
              <c16:uniqueId val="{00000002-6DA7-427B-B473-BF3A9B7AE8D7}"/>
            </c:ext>
          </c:extLst>
        </c:ser>
        <c:ser>
          <c:idx val="3"/>
          <c:order val="3"/>
          <c:tx>
            <c:strRef>
              <c:f>'Pivot Tables'!$H$65:$H$66</c:f>
              <c:strCache>
                <c:ptCount val="1"/>
                <c:pt idx="0">
                  <c:v>Robusta</c:v>
                </c:pt>
              </c:strCache>
            </c:strRef>
          </c:tx>
          <c:spPr>
            <a:solidFill>
              <a:srgbClr val="FFFF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Tables'!$D$67:$D$70</c:f>
              <c:strCache>
                <c:ptCount val="3"/>
                <c:pt idx="0">
                  <c:v>Between 4 and 2</c:v>
                </c:pt>
                <c:pt idx="1">
                  <c:v>Less than 2</c:v>
                </c:pt>
                <c:pt idx="2">
                  <c:v>More than 4</c:v>
                </c:pt>
              </c:strCache>
            </c:strRef>
          </c:cat>
          <c:val>
            <c:numRef>
              <c:f>'Pivot Tables'!$H$67:$H$70</c:f>
              <c:numCache>
                <c:formatCode>0.00</c:formatCode>
                <c:ptCount val="3"/>
                <c:pt idx="0">
                  <c:v>42.293928571428573</c:v>
                </c:pt>
                <c:pt idx="1">
                  <c:v>37.062246696035253</c:v>
                </c:pt>
              </c:numCache>
            </c:numRef>
          </c:val>
          <c:extLst>
            <c:ext xmlns:c16="http://schemas.microsoft.com/office/drawing/2014/chart" uri="{C3380CC4-5D6E-409C-BE32-E72D297353CC}">
              <c16:uniqueId val="{00000003-6DA7-427B-B473-BF3A9B7AE8D7}"/>
            </c:ext>
          </c:extLst>
        </c:ser>
        <c:dLbls>
          <c:showLegendKey val="0"/>
          <c:showVal val="0"/>
          <c:showCatName val="0"/>
          <c:showSerName val="0"/>
          <c:showPercent val="0"/>
          <c:showBubbleSize val="0"/>
        </c:dLbls>
        <c:gapWidth val="150"/>
        <c:overlap val="100"/>
        <c:axId val="980825136"/>
        <c:axId val="980827056"/>
      </c:barChart>
      <c:catAx>
        <c:axId val="980825136"/>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Frequency</a:t>
                </a:r>
                <a:r>
                  <a:rPr lang="en-GB" baseline="0" noProof="0" dirty="0">
                    <a:solidFill>
                      <a:srgbClr val="3C1464"/>
                    </a:solidFill>
                  </a:rPr>
                  <a:t> Groups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980827056"/>
        <c:crosses val="autoZero"/>
        <c:auto val="1"/>
        <c:lblAlgn val="ctr"/>
        <c:lblOffset val="100"/>
        <c:noMultiLvlLbl val="0"/>
      </c:catAx>
      <c:valAx>
        <c:axId val="980827056"/>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Percentage</a:t>
                </a:r>
                <a:r>
                  <a:rPr lang="en-GB" baseline="0" noProof="0" dirty="0">
                    <a:solidFill>
                      <a:srgbClr val="3C1464"/>
                    </a:solidFill>
                  </a:rPr>
                  <a:t> of Total Sales</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980825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Tables!PivotTable4</c:name>
    <c:fmtId val="86"/>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Top 10 Customers by Average Spending</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Tables'!$B$65</c:f>
              <c:strCache>
                <c:ptCount val="1"/>
                <c:pt idx="0">
                  <c:v>Total</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Tables'!$A$66:$A$77</c:f>
              <c:strCache>
                <c:ptCount val="11"/>
                <c:pt idx="0">
                  <c:v>Davida Caro</c:v>
                </c:pt>
                <c:pt idx="1">
                  <c:v>Samuele Ales0</c:v>
                </c:pt>
                <c:pt idx="2">
                  <c:v>Hatty Dovydenas</c:v>
                </c:pt>
                <c:pt idx="3">
                  <c:v>Lemuel Rignold</c:v>
                </c:pt>
                <c:pt idx="4">
                  <c:v>Lacee Tanti</c:v>
                </c:pt>
                <c:pt idx="5">
                  <c:v>Nanny Lush</c:v>
                </c:pt>
                <c:pt idx="6">
                  <c:v>Daniel Heinonen</c:v>
                </c:pt>
                <c:pt idx="7">
                  <c:v>Elysee Sketch</c:v>
                </c:pt>
                <c:pt idx="8">
                  <c:v>Shelli Keynd</c:v>
                </c:pt>
                <c:pt idx="9">
                  <c:v>Teddi Crowthe</c:v>
                </c:pt>
                <c:pt idx="10">
                  <c:v>Alexa Sizey</c:v>
                </c:pt>
              </c:strCache>
            </c:strRef>
          </c:cat>
          <c:val>
            <c:numRef>
              <c:f>'Pivot Tables'!$B$66:$B$77</c:f>
              <c:numCache>
                <c:formatCode>_([$$-409]* #,##0.00_);_([$$-409]* \(#,##0.00\);_([$$-409]* "-"??_);_(@_)</c:formatCode>
                <c:ptCount val="11"/>
                <c:pt idx="0">
                  <c:v>182.27499999999998</c:v>
                </c:pt>
                <c:pt idx="1">
                  <c:v>182.27499999999998</c:v>
                </c:pt>
                <c:pt idx="2">
                  <c:v>189.74999999999997</c:v>
                </c:pt>
                <c:pt idx="3">
                  <c:v>200.78999999999996</c:v>
                </c:pt>
                <c:pt idx="4">
                  <c:v>204.92999999999995</c:v>
                </c:pt>
                <c:pt idx="5">
                  <c:v>204.92999999999995</c:v>
                </c:pt>
                <c:pt idx="6">
                  <c:v>204.92999999999995</c:v>
                </c:pt>
                <c:pt idx="7">
                  <c:v>204.92999999999995</c:v>
                </c:pt>
                <c:pt idx="8">
                  <c:v>204.92999999999995</c:v>
                </c:pt>
                <c:pt idx="9">
                  <c:v>204.92999999999995</c:v>
                </c:pt>
                <c:pt idx="10">
                  <c:v>218.73</c:v>
                </c:pt>
              </c:numCache>
            </c:numRef>
          </c:val>
          <c:extLst>
            <c:ext xmlns:c16="http://schemas.microsoft.com/office/drawing/2014/chart" uri="{C3380CC4-5D6E-409C-BE32-E72D297353CC}">
              <c16:uniqueId val="{00000000-7FD3-4CC6-AB01-43569F0D14FA}"/>
            </c:ext>
          </c:extLst>
        </c:ser>
        <c:dLbls>
          <c:showLegendKey val="0"/>
          <c:showVal val="0"/>
          <c:showCatName val="0"/>
          <c:showSerName val="0"/>
          <c:showPercent val="0"/>
          <c:showBubbleSize val="0"/>
        </c:dLbls>
        <c:gapWidth val="182"/>
        <c:axId val="64204512"/>
        <c:axId val="64206912"/>
      </c:barChart>
      <c:catAx>
        <c:axId val="64204512"/>
        <c:scaling>
          <c:orientation val="minMax"/>
        </c:scaling>
        <c:delete val="0"/>
        <c:axPos val="l"/>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Customers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64206912"/>
        <c:crosses val="autoZero"/>
        <c:auto val="1"/>
        <c:lblAlgn val="ctr"/>
        <c:lblOffset val="100"/>
        <c:noMultiLvlLbl val="0"/>
      </c:catAx>
      <c:valAx>
        <c:axId val="64206912"/>
        <c:scaling>
          <c:orientation val="minMax"/>
        </c:scaling>
        <c:delete val="0"/>
        <c:axPos val="b"/>
        <c:majorGridlines>
          <c:spPr>
            <a:ln w="9525" cap="flat" cmpd="sng" algn="ctr">
              <a:solidFill>
                <a:schemeClr val="bg1"/>
              </a:solidFill>
              <a:round/>
            </a:ln>
            <a:effectLst/>
          </c:spPr>
        </c:majorGridlines>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Average Order Value</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642045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Tables!CustomerSpendDist</c:name>
    <c:fmtId val="86"/>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Customer Spending Distribution</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Tables'!$E$72</c:f>
              <c:strCache>
                <c:ptCount val="1"/>
                <c:pt idx="0">
                  <c:v>Total</c:v>
                </c:pt>
              </c:strCache>
            </c:strRef>
          </c:tx>
          <c:spPr>
            <a:solidFill>
              <a:srgbClr val="00B0F0"/>
            </a:solidFill>
            <a:ln>
              <a:noFill/>
            </a:ln>
            <a:effectLst/>
          </c:spPr>
          <c:invertIfNegative val="0"/>
          <c:cat>
            <c:strRef>
              <c:f>'Pivot Tables'!$D$73:$D$77</c:f>
              <c:strCache>
                <c:ptCount val="4"/>
                <c:pt idx="0">
                  <c:v>$0-50</c:v>
                </c:pt>
                <c:pt idx="1">
                  <c:v>$50-100</c:v>
                </c:pt>
                <c:pt idx="2">
                  <c:v>$101-150</c:v>
                </c:pt>
                <c:pt idx="3">
                  <c:v>$150+</c:v>
                </c:pt>
              </c:strCache>
            </c:strRef>
          </c:cat>
          <c:val>
            <c:numRef>
              <c:f>'Pivot Tables'!$E$73:$E$77</c:f>
              <c:numCache>
                <c:formatCode>General</c:formatCode>
                <c:ptCount val="4"/>
                <c:pt idx="0">
                  <c:v>694</c:v>
                </c:pt>
                <c:pt idx="1">
                  <c:v>190</c:v>
                </c:pt>
                <c:pt idx="2">
                  <c:v>81</c:v>
                </c:pt>
                <c:pt idx="3">
                  <c:v>35</c:v>
                </c:pt>
              </c:numCache>
            </c:numRef>
          </c:val>
          <c:extLst>
            <c:ext xmlns:c16="http://schemas.microsoft.com/office/drawing/2014/chart" uri="{C3380CC4-5D6E-409C-BE32-E72D297353CC}">
              <c16:uniqueId val="{00000000-BC25-4D98-B286-13FD4E7D7A51}"/>
            </c:ext>
          </c:extLst>
        </c:ser>
        <c:dLbls>
          <c:showLegendKey val="0"/>
          <c:showVal val="0"/>
          <c:showCatName val="0"/>
          <c:showSerName val="0"/>
          <c:showPercent val="0"/>
          <c:showBubbleSize val="0"/>
        </c:dLbls>
        <c:gapWidth val="219"/>
        <c:overlap val="-27"/>
        <c:axId val="1191384720"/>
        <c:axId val="1191387120"/>
      </c:barChart>
      <c:catAx>
        <c:axId val="11913847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Spend Distribution</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191387120"/>
        <c:crosses val="autoZero"/>
        <c:auto val="1"/>
        <c:lblAlgn val="ctr"/>
        <c:lblOffset val="100"/>
        <c:noMultiLvlLbl val="0"/>
      </c:catAx>
      <c:valAx>
        <c:axId val="1191387120"/>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Customer 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191384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Tables!PriceVSQuantity</c:name>
    <c:fmtId val="33"/>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Price vs Quantity Sold - Demand Sensitivity Analysis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2"/>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1"/>
          <c:order val="1"/>
          <c:tx>
            <c:strRef>
              <c:f>'Pivot Tables'!$C$81</c:f>
              <c:strCache>
                <c:ptCount val="1"/>
                <c:pt idx="0">
                  <c:v>Total Quantity</c:v>
                </c:pt>
              </c:strCache>
            </c:strRef>
          </c:tx>
          <c:spPr>
            <a:solidFill>
              <a:srgbClr val="00B0F0"/>
            </a:solidFill>
            <a:ln>
              <a:noFill/>
            </a:ln>
            <a:effectLst/>
          </c:spPr>
          <c:invertIfNegative val="0"/>
          <c:cat>
            <c:strRef>
              <c:f>'Pivot Tables'!$A$82:$A$86</c:f>
              <c:strCache>
                <c:ptCount val="4"/>
                <c:pt idx="0">
                  <c:v>Arabica</c:v>
                </c:pt>
                <c:pt idx="1">
                  <c:v>Robusta</c:v>
                </c:pt>
                <c:pt idx="2">
                  <c:v>Excelsa</c:v>
                </c:pt>
                <c:pt idx="3">
                  <c:v>Liberica</c:v>
                </c:pt>
              </c:strCache>
            </c:strRef>
          </c:cat>
          <c:val>
            <c:numRef>
              <c:f>'Pivot Tables'!$C$82:$C$86</c:f>
              <c:numCache>
                <c:formatCode>General</c:formatCode>
                <c:ptCount val="4"/>
                <c:pt idx="0">
                  <c:v>947</c:v>
                </c:pt>
                <c:pt idx="1">
                  <c:v>878</c:v>
                </c:pt>
                <c:pt idx="2">
                  <c:v>872</c:v>
                </c:pt>
                <c:pt idx="3">
                  <c:v>854</c:v>
                </c:pt>
              </c:numCache>
            </c:numRef>
          </c:val>
          <c:extLst>
            <c:ext xmlns:c16="http://schemas.microsoft.com/office/drawing/2014/chart" uri="{C3380CC4-5D6E-409C-BE32-E72D297353CC}">
              <c16:uniqueId val="{00000000-23A5-496E-9066-52FF2774B08B}"/>
            </c:ext>
          </c:extLst>
        </c:ser>
        <c:dLbls>
          <c:showLegendKey val="0"/>
          <c:showVal val="0"/>
          <c:showCatName val="0"/>
          <c:showSerName val="0"/>
          <c:showPercent val="0"/>
          <c:showBubbleSize val="0"/>
        </c:dLbls>
        <c:gapWidth val="219"/>
        <c:axId val="718419840"/>
        <c:axId val="718419360"/>
      </c:barChart>
      <c:lineChart>
        <c:grouping val="standard"/>
        <c:varyColors val="0"/>
        <c:ser>
          <c:idx val="0"/>
          <c:order val="0"/>
          <c:tx>
            <c:strRef>
              <c:f>'Pivot Tables'!$B$81</c:f>
              <c:strCache>
                <c:ptCount val="1"/>
                <c:pt idx="0">
                  <c:v>Average Unit Price (AUP)</c:v>
                </c:pt>
              </c:strCache>
            </c:strRef>
          </c:tx>
          <c:spPr>
            <a:ln w="28575" cap="rnd">
              <a:solidFill>
                <a:srgbClr val="FFC000"/>
              </a:solidFill>
              <a:round/>
            </a:ln>
            <a:effectLst/>
          </c:spPr>
          <c:marker>
            <c:symbol val="none"/>
          </c:marker>
          <c:cat>
            <c:strRef>
              <c:f>'Pivot Tables'!$A$82:$A$86</c:f>
              <c:strCache>
                <c:ptCount val="4"/>
                <c:pt idx="0">
                  <c:v>Arabica</c:v>
                </c:pt>
                <c:pt idx="1">
                  <c:v>Robusta</c:v>
                </c:pt>
                <c:pt idx="2">
                  <c:v>Excelsa</c:v>
                </c:pt>
                <c:pt idx="3">
                  <c:v>Liberica</c:v>
                </c:pt>
              </c:strCache>
            </c:strRef>
          </c:cat>
          <c:val>
            <c:numRef>
              <c:f>'Pivot Tables'!$B$82:$B$86</c:f>
              <c:numCache>
                <c:formatCode>_([$$-409]* #,##0.00_);_([$$-409]* \(#,##0.00\);_([$$-409]* "-"??_);_(@_)</c:formatCode>
                <c:ptCount val="4"/>
                <c:pt idx="0">
                  <c:v>12.277102272727266</c:v>
                </c:pt>
                <c:pt idx="1">
                  <c:v>10.45973029045642</c:v>
                </c:pt>
                <c:pt idx="2">
                  <c:v>14.286133603238866</c:v>
                </c:pt>
                <c:pt idx="3">
                  <c:v>14.586512096774188</c:v>
                </c:pt>
              </c:numCache>
            </c:numRef>
          </c:val>
          <c:smooth val="0"/>
          <c:extLst>
            <c:ext xmlns:c16="http://schemas.microsoft.com/office/drawing/2014/chart" uri="{C3380CC4-5D6E-409C-BE32-E72D297353CC}">
              <c16:uniqueId val="{00000001-23A5-496E-9066-52FF2774B08B}"/>
            </c:ext>
          </c:extLst>
        </c:ser>
        <c:dLbls>
          <c:showLegendKey val="0"/>
          <c:showVal val="0"/>
          <c:showCatName val="0"/>
          <c:showSerName val="0"/>
          <c:showPercent val="0"/>
          <c:showBubbleSize val="0"/>
        </c:dLbls>
        <c:marker val="1"/>
        <c:smooth val="0"/>
        <c:axId val="978286176"/>
        <c:axId val="978285216"/>
      </c:lineChart>
      <c:catAx>
        <c:axId val="71841984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Coffee Type</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718419360"/>
        <c:crosses val="autoZero"/>
        <c:auto val="1"/>
        <c:lblAlgn val="ctr"/>
        <c:lblOffset val="100"/>
        <c:noMultiLvlLbl val="0"/>
      </c:catAx>
      <c:valAx>
        <c:axId val="718419360"/>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Product Quantity (Units)</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718419840"/>
        <c:crosses val="autoZero"/>
        <c:crossBetween val="between"/>
      </c:valAx>
      <c:valAx>
        <c:axId val="978285216"/>
        <c:scaling>
          <c:orientation val="minMax"/>
        </c:scaling>
        <c:delete val="0"/>
        <c:axPos val="r"/>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Unit Price (USD)</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978286176"/>
        <c:crosses val="max"/>
        <c:crossBetween val="between"/>
      </c:valAx>
      <c:catAx>
        <c:axId val="978286176"/>
        <c:scaling>
          <c:orientation val="minMax"/>
        </c:scaling>
        <c:delete val="1"/>
        <c:axPos val="b"/>
        <c:numFmt formatCode="General" sourceLinked="1"/>
        <c:majorTickMark val="out"/>
        <c:minorTickMark val="none"/>
        <c:tickLblPos val="nextTo"/>
        <c:crossAx val="9782852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Tables!PackSizePerformance</c:name>
    <c:fmtId val="30"/>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Pack Size Performance - Revenue &amp; Volume Comparison</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Tables'!$F$81</c:f>
              <c:strCache>
                <c:ptCount val="1"/>
                <c:pt idx="0">
                  <c:v>Total</c:v>
                </c:pt>
              </c:strCache>
            </c:strRef>
          </c:tx>
          <c:spPr>
            <a:solidFill>
              <a:srgbClr val="00B0F0"/>
            </a:solidFill>
            <a:ln>
              <a:noFill/>
            </a:ln>
            <a:effectLst/>
          </c:spPr>
          <c:invertIfNegative val="0"/>
          <c:cat>
            <c:strRef>
              <c:f>'Pivot Tables'!$E$82:$E$86</c:f>
              <c:strCache>
                <c:ptCount val="4"/>
                <c:pt idx="0">
                  <c:v>2.5 kg</c:v>
                </c:pt>
                <c:pt idx="1">
                  <c:v>1.0 kg</c:v>
                </c:pt>
                <c:pt idx="2">
                  <c:v>0.5 kg</c:v>
                </c:pt>
                <c:pt idx="3">
                  <c:v>0.2 kg</c:v>
                </c:pt>
              </c:strCache>
            </c:strRef>
          </c:cat>
          <c:val>
            <c:numRef>
              <c:f>'Pivot Tables'!$F$82:$F$86</c:f>
              <c:numCache>
                <c:formatCode>_([$$-409]* #,##0.00_);_([$$-409]* \(#,##0.00\);_([$$-409]* "-"??_);_(@_)</c:formatCode>
                <c:ptCount val="4"/>
                <c:pt idx="0">
                  <c:v>23785.564999999977</c:v>
                </c:pt>
                <c:pt idx="1">
                  <c:v>11010.749999999998</c:v>
                </c:pt>
                <c:pt idx="2">
                  <c:v>7029.9900000000034</c:v>
                </c:pt>
                <c:pt idx="3">
                  <c:v>3307.9500000000003</c:v>
                </c:pt>
              </c:numCache>
            </c:numRef>
          </c:val>
          <c:extLst>
            <c:ext xmlns:c16="http://schemas.microsoft.com/office/drawing/2014/chart" uri="{C3380CC4-5D6E-409C-BE32-E72D297353CC}">
              <c16:uniqueId val="{00000000-7864-48B6-B492-307F23495ECD}"/>
            </c:ext>
          </c:extLst>
        </c:ser>
        <c:dLbls>
          <c:showLegendKey val="0"/>
          <c:showVal val="0"/>
          <c:showCatName val="0"/>
          <c:showSerName val="0"/>
          <c:showPercent val="0"/>
          <c:showBubbleSize val="0"/>
        </c:dLbls>
        <c:gapWidth val="219"/>
        <c:overlap val="-27"/>
        <c:axId val="80454351"/>
        <c:axId val="80457231"/>
      </c:barChart>
      <c:catAx>
        <c:axId val="80454351"/>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Product</a:t>
                </a:r>
                <a:r>
                  <a:rPr lang="en-GB" baseline="0" noProof="0" dirty="0">
                    <a:solidFill>
                      <a:srgbClr val="3C1464"/>
                    </a:solidFill>
                  </a:rPr>
                  <a:t> Volume (Units)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80457231"/>
        <c:crosses val="autoZero"/>
        <c:auto val="1"/>
        <c:lblAlgn val="ctr"/>
        <c:lblOffset val="100"/>
        <c:noMultiLvlLbl val="0"/>
      </c:catAx>
      <c:valAx>
        <c:axId val="80457231"/>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sz="1000" b="0" i="0" u="none" strike="noStrike" baseline="0" noProof="0" dirty="0">
                    <a:solidFill>
                      <a:srgbClr val="3C1464"/>
                    </a:solidFill>
                  </a:rPr>
                  <a:t>Total Sales (USD)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804543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Tables!PriceVSVolumePivot</c:name>
    <c:fmtId val="30"/>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Revenue Contribution by (Pricing, Volume) Relationship </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Tables'!$I$81</c:f>
              <c:strCache>
                <c:ptCount val="1"/>
                <c:pt idx="0">
                  <c:v>Total</c:v>
                </c:pt>
              </c:strCache>
            </c:strRef>
          </c:tx>
          <c:spPr>
            <a:solidFill>
              <a:srgbClr val="00B0F0"/>
            </a:solidFill>
            <a:ln>
              <a:noFill/>
            </a:ln>
            <a:effectLst/>
          </c:spPr>
          <c:invertIfNegative val="0"/>
          <c:cat>
            <c:strRef>
              <c:f>'Pivot Tables'!$H$82:$H$86</c:f>
              <c:strCache>
                <c:ptCount val="4"/>
                <c:pt idx="0">
                  <c:v>High Price-High Volume</c:v>
                </c:pt>
                <c:pt idx="1">
                  <c:v>High Price-Low Volume</c:v>
                </c:pt>
                <c:pt idx="2">
                  <c:v>Low Price-Low Volume</c:v>
                </c:pt>
                <c:pt idx="3">
                  <c:v>Low Price-High Volume</c:v>
                </c:pt>
              </c:strCache>
            </c:strRef>
          </c:cat>
          <c:val>
            <c:numRef>
              <c:f>'Pivot Tables'!$I$82:$I$86</c:f>
              <c:numCache>
                <c:formatCode>_([$$-409]* #,##0.00_);_([$$-409]* \(#,##0.00\);_([$$-409]* "-"??_);_(@_)</c:formatCode>
                <c:ptCount val="4"/>
                <c:pt idx="0">
                  <c:v>20642.304999999989</c:v>
                </c:pt>
                <c:pt idx="1">
                  <c:v>16455.07</c:v>
                </c:pt>
                <c:pt idx="2">
                  <c:v>6058.7250000000049</c:v>
                </c:pt>
                <c:pt idx="3">
                  <c:v>1978.1549999999997</c:v>
                </c:pt>
              </c:numCache>
            </c:numRef>
          </c:val>
          <c:extLst>
            <c:ext xmlns:c16="http://schemas.microsoft.com/office/drawing/2014/chart" uri="{C3380CC4-5D6E-409C-BE32-E72D297353CC}">
              <c16:uniqueId val="{00000000-173B-4A18-9F9C-20720442DB0E}"/>
            </c:ext>
          </c:extLst>
        </c:ser>
        <c:dLbls>
          <c:showLegendKey val="0"/>
          <c:showVal val="0"/>
          <c:showCatName val="0"/>
          <c:showSerName val="0"/>
          <c:showPercent val="0"/>
          <c:showBubbleSize val="0"/>
        </c:dLbls>
        <c:gapWidth val="219"/>
        <c:overlap val="-27"/>
        <c:axId val="140183279"/>
        <c:axId val="140184719"/>
      </c:barChart>
      <c:catAx>
        <c:axId val="140183279"/>
        <c:scaling>
          <c:orientation val="minMax"/>
        </c:scaling>
        <c:delete val="0"/>
        <c:axPos val="b"/>
        <c:title>
          <c:tx>
            <c:rich>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Relationship Type</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40184719"/>
        <c:crosses val="autoZero"/>
        <c:auto val="1"/>
        <c:lblAlgn val="ctr"/>
        <c:lblOffset val="100"/>
        <c:noMultiLvlLbl val="0"/>
      </c:catAx>
      <c:valAx>
        <c:axId val="140184719"/>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Total Sales (USD)</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401832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Tables!TotalSales</c:name>
    <c:fmtId val="34"/>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noProof="0" dirty="0"/>
              <a:t>Total</a:t>
            </a:r>
            <a:r>
              <a:rPr lang="en-GB" baseline="0" noProof="0" dirty="0"/>
              <a:t> Sales Over Years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3C1464"/>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Tables'!$C$1:$C$2</c:f>
              <c:strCache>
                <c:ptCount val="1"/>
                <c:pt idx="0">
                  <c:v>Arabica</c:v>
                </c:pt>
              </c:strCache>
            </c:strRef>
          </c:tx>
          <c:spPr>
            <a:ln w="28575" cap="rnd">
              <a:solidFill>
                <a:schemeClr val="accent1"/>
              </a:solidFill>
              <a:round/>
            </a:ln>
            <a:effectLst/>
          </c:spPr>
          <c:marker>
            <c:symbol val="none"/>
          </c:marker>
          <c:cat>
            <c:strRef>
              <c:f>'Pivot Tables'!$A$3:$B$7</c:f>
              <c:strCache>
                <c:ptCount val="4"/>
                <c:pt idx="0">
                  <c:v>2019</c:v>
                </c:pt>
                <c:pt idx="1">
                  <c:v>2020</c:v>
                </c:pt>
                <c:pt idx="2">
                  <c:v>2021</c:v>
                </c:pt>
                <c:pt idx="3">
                  <c:v>2022</c:v>
                </c:pt>
              </c:strCache>
            </c:strRef>
          </c:cat>
          <c:val>
            <c:numRef>
              <c:f>'Pivot Tables'!$C$3:$C$7</c:f>
              <c:numCache>
                <c:formatCode>_([$$-409]* #,##0_);_([$$-409]* \(#,##0\);_([$$-409]* "-"??_);_(@_)</c:formatCode>
                <c:ptCount val="4"/>
                <c:pt idx="0">
                  <c:v>2926.6300000000006</c:v>
                </c:pt>
                <c:pt idx="1">
                  <c:v>3356.415</c:v>
                </c:pt>
                <c:pt idx="2">
                  <c:v>4045.6299999999987</c:v>
                </c:pt>
                <c:pt idx="3">
                  <c:v>1439.8199999999997</c:v>
                </c:pt>
              </c:numCache>
            </c:numRef>
          </c:val>
          <c:smooth val="0"/>
          <c:extLst>
            <c:ext xmlns:c16="http://schemas.microsoft.com/office/drawing/2014/chart" uri="{C3380CC4-5D6E-409C-BE32-E72D297353CC}">
              <c16:uniqueId val="{00000000-FF74-464B-AD1D-C89EC191346B}"/>
            </c:ext>
          </c:extLst>
        </c:ser>
        <c:ser>
          <c:idx val="1"/>
          <c:order val="1"/>
          <c:tx>
            <c:strRef>
              <c:f>'Pivot Tables'!$D$1:$D$2</c:f>
              <c:strCache>
                <c:ptCount val="1"/>
                <c:pt idx="0">
                  <c:v>Excelsa</c:v>
                </c:pt>
              </c:strCache>
            </c:strRef>
          </c:tx>
          <c:spPr>
            <a:ln w="28575" cap="rnd">
              <a:solidFill>
                <a:schemeClr val="accent2"/>
              </a:solidFill>
              <a:round/>
            </a:ln>
            <a:effectLst/>
          </c:spPr>
          <c:marker>
            <c:symbol val="none"/>
          </c:marker>
          <c:cat>
            <c:strRef>
              <c:f>'Pivot Tables'!$A$3:$B$7</c:f>
              <c:strCache>
                <c:ptCount val="4"/>
                <c:pt idx="0">
                  <c:v>2019</c:v>
                </c:pt>
                <c:pt idx="1">
                  <c:v>2020</c:v>
                </c:pt>
                <c:pt idx="2">
                  <c:v>2021</c:v>
                </c:pt>
                <c:pt idx="3">
                  <c:v>2022</c:v>
                </c:pt>
              </c:strCache>
            </c:strRef>
          </c:cat>
          <c:val>
            <c:numRef>
              <c:f>'Pivot Tables'!$D$3:$D$7</c:f>
              <c:numCache>
                <c:formatCode>_([$$-409]* #,##0_);_([$$-409]* \(#,##0\);_([$$-409]* "-"??_);_(@_)</c:formatCode>
                <c:ptCount val="4"/>
                <c:pt idx="0">
                  <c:v>3481.4599999999987</c:v>
                </c:pt>
                <c:pt idx="1">
                  <c:v>3663.4100000000008</c:v>
                </c:pt>
                <c:pt idx="2">
                  <c:v>3469.6399999999994</c:v>
                </c:pt>
                <c:pt idx="3">
                  <c:v>1691.9299999999998</c:v>
                </c:pt>
              </c:numCache>
            </c:numRef>
          </c:val>
          <c:smooth val="0"/>
          <c:extLst>
            <c:ext xmlns:c16="http://schemas.microsoft.com/office/drawing/2014/chart" uri="{C3380CC4-5D6E-409C-BE32-E72D297353CC}">
              <c16:uniqueId val="{00000001-FF74-464B-AD1D-C89EC191346B}"/>
            </c:ext>
          </c:extLst>
        </c:ser>
        <c:ser>
          <c:idx val="2"/>
          <c:order val="2"/>
          <c:tx>
            <c:strRef>
              <c:f>'Pivot Tables'!$E$1:$E$2</c:f>
              <c:strCache>
                <c:ptCount val="1"/>
                <c:pt idx="0">
                  <c:v>Liberica</c:v>
                </c:pt>
              </c:strCache>
            </c:strRef>
          </c:tx>
          <c:spPr>
            <a:ln w="28575" cap="rnd">
              <a:solidFill>
                <a:schemeClr val="accent3"/>
              </a:solidFill>
              <a:round/>
            </a:ln>
            <a:effectLst/>
          </c:spPr>
          <c:marker>
            <c:symbol val="none"/>
          </c:marker>
          <c:cat>
            <c:strRef>
              <c:f>'Pivot Tables'!$A$3:$B$7</c:f>
              <c:strCache>
                <c:ptCount val="4"/>
                <c:pt idx="0">
                  <c:v>2019</c:v>
                </c:pt>
                <c:pt idx="1">
                  <c:v>2020</c:v>
                </c:pt>
                <c:pt idx="2">
                  <c:v>2021</c:v>
                </c:pt>
                <c:pt idx="3">
                  <c:v>2022</c:v>
                </c:pt>
              </c:strCache>
            </c:strRef>
          </c:cat>
          <c:val>
            <c:numRef>
              <c:f>'Pivot Tables'!$E$3:$E$7</c:f>
              <c:numCache>
                <c:formatCode>_([$$-409]* #,##0_);_([$$-409]* \(#,##0\);_([$$-409]* "-"??_);_(@_)</c:formatCode>
                <c:ptCount val="4"/>
                <c:pt idx="0">
                  <c:v>3378.0050000000001</c:v>
                </c:pt>
                <c:pt idx="1">
                  <c:v>2604.4549999999999</c:v>
                </c:pt>
                <c:pt idx="2">
                  <c:v>3836.6949999999997</c:v>
                </c:pt>
                <c:pt idx="3">
                  <c:v>2234.9199999999996</c:v>
                </c:pt>
              </c:numCache>
            </c:numRef>
          </c:val>
          <c:smooth val="0"/>
          <c:extLst>
            <c:ext xmlns:c16="http://schemas.microsoft.com/office/drawing/2014/chart" uri="{C3380CC4-5D6E-409C-BE32-E72D297353CC}">
              <c16:uniqueId val="{00000002-FF74-464B-AD1D-C89EC191346B}"/>
            </c:ext>
          </c:extLst>
        </c:ser>
        <c:ser>
          <c:idx val="3"/>
          <c:order val="3"/>
          <c:tx>
            <c:strRef>
              <c:f>'Pivot Tables'!$F$1:$F$2</c:f>
              <c:strCache>
                <c:ptCount val="1"/>
                <c:pt idx="0">
                  <c:v>Robusta</c:v>
                </c:pt>
              </c:strCache>
            </c:strRef>
          </c:tx>
          <c:spPr>
            <a:ln w="28575" cap="rnd">
              <a:solidFill>
                <a:schemeClr val="accent4"/>
              </a:solidFill>
              <a:round/>
            </a:ln>
            <a:effectLst/>
          </c:spPr>
          <c:marker>
            <c:symbol val="none"/>
          </c:marker>
          <c:cat>
            <c:strRef>
              <c:f>'Pivot Tables'!$A$3:$B$7</c:f>
              <c:strCache>
                <c:ptCount val="4"/>
                <c:pt idx="0">
                  <c:v>2019</c:v>
                </c:pt>
                <c:pt idx="1">
                  <c:v>2020</c:v>
                </c:pt>
                <c:pt idx="2">
                  <c:v>2021</c:v>
                </c:pt>
                <c:pt idx="3">
                  <c:v>2022</c:v>
                </c:pt>
              </c:strCache>
            </c:strRef>
          </c:cat>
          <c:val>
            <c:numRef>
              <c:f>'Pivot Tables'!$F$3:$F$7</c:f>
              <c:numCache>
                <c:formatCode>_([$$-409]* #,##0_);_([$$-409]* \(#,##0\);_([$$-409]* "-"??_);_(@_)</c:formatCode>
                <c:ptCount val="4"/>
                <c:pt idx="0">
                  <c:v>2401.0699999999993</c:v>
                </c:pt>
                <c:pt idx="1">
                  <c:v>2493.2649999999999</c:v>
                </c:pt>
                <c:pt idx="2">
                  <c:v>2414.1449999999991</c:v>
                </c:pt>
                <c:pt idx="3">
                  <c:v>1696.7650000000003</c:v>
                </c:pt>
              </c:numCache>
            </c:numRef>
          </c:val>
          <c:smooth val="0"/>
          <c:extLst>
            <c:ext xmlns:c16="http://schemas.microsoft.com/office/drawing/2014/chart" uri="{C3380CC4-5D6E-409C-BE32-E72D297353CC}">
              <c16:uniqueId val="{00000003-FF74-464B-AD1D-C89EC191346B}"/>
            </c:ext>
          </c:extLst>
        </c:ser>
        <c:dLbls>
          <c:showLegendKey val="0"/>
          <c:showVal val="0"/>
          <c:showCatName val="0"/>
          <c:showSerName val="0"/>
          <c:showPercent val="0"/>
          <c:showBubbleSize val="0"/>
        </c:dLbls>
        <c:smooth val="0"/>
        <c:axId val="1384305888"/>
        <c:axId val="1384307808"/>
      </c:lineChart>
      <c:catAx>
        <c:axId val="1384305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384307808"/>
        <c:crosses val="autoZero"/>
        <c:auto val="1"/>
        <c:lblAlgn val="ctr"/>
        <c:lblOffset val="100"/>
        <c:noMultiLvlLbl val="0"/>
      </c:catAx>
      <c:valAx>
        <c:axId val="1384307808"/>
        <c:scaling>
          <c:orientation val="minMax"/>
        </c:scaling>
        <c:delete val="0"/>
        <c:axPos val="l"/>
        <c:majorGridlines>
          <c:spPr>
            <a:ln w="9525" cap="flat" cmpd="sng" algn="ctr">
              <a:solidFill>
                <a:schemeClr val="bg1">
                  <a:lumMod val="9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t> Currency</a:t>
                </a:r>
                <a:r>
                  <a:rPr lang="en-GB" baseline="0" noProof="0" dirty="0"/>
                  <a:t> (USD)</a:t>
                </a:r>
                <a:endParaRPr lang="en-GB" noProof="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_([$$-409]* #,##0_);_([$$-409]* \(#,##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384305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solidFill>
            <a:srgbClr val="3C1464"/>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Tables!QuarterlyTable</c:name>
    <c:fmtId val="35"/>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noProof="0" dirty="0">
                <a:solidFill>
                  <a:srgbClr val="3C1464"/>
                </a:solidFill>
              </a:rPr>
              <a:t>Total Sales Over Quarters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Tables'!$J$90:$J$91</c:f>
              <c:strCache>
                <c:ptCount val="1"/>
                <c:pt idx="0">
                  <c:v>Arabica</c:v>
                </c:pt>
              </c:strCache>
            </c:strRef>
          </c:tx>
          <c:spPr>
            <a:ln w="28575" cap="rnd">
              <a:solidFill>
                <a:schemeClr val="accent1"/>
              </a:solidFill>
              <a:round/>
            </a:ln>
            <a:effectLst/>
          </c:spPr>
          <c:marker>
            <c:symbol val="none"/>
          </c:marker>
          <c:cat>
            <c:strRef>
              <c:f>'Pivot Tables'!$I$92:$I$96</c:f>
              <c:strCache>
                <c:ptCount val="4"/>
                <c:pt idx="0">
                  <c:v>First Quarter</c:v>
                </c:pt>
                <c:pt idx="1">
                  <c:v>Fourth Quarter</c:v>
                </c:pt>
                <c:pt idx="2">
                  <c:v>Second Quarter</c:v>
                </c:pt>
                <c:pt idx="3">
                  <c:v>Third Quarter</c:v>
                </c:pt>
              </c:strCache>
            </c:strRef>
          </c:cat>
          <c:val>
            <c:numRef>
              <c:f>'Pivot Tables'!$J$92:$J$96</c:f>
              <c:numCache>
                <c:formatCode>_([$$-409]* #,##0.00_);_([$$-409]* \(#,##0.00\);_([$$-409]* "-"??_);_(@_)</c:formatCode>
                <c:ptCount val="4"/>
                <c:pt idx="0">
                  <c:v>3111.1199999999994</c:v>
                </c:pt>
                <c:pt idx="1">
                  <c:v>2889.3899999999994</c:v>
                </c:pt>
                <c:pt idx="2">
                  <c:v>2728.9499999999989</c:v>
                </c:pt>
                <c:pt idx="3">
                  <c:v>3039.0350000000003</c:v>
                </c:pt>
              </c:numCache>
            </c:numRef>
          </c:val>
          <c:smooth val="0"/>
          <c:extLst>
            <c:ext xmlns:c16="http://schemas.microsoft.com/office/drawing/2014/chart" uri="{C3380CC4-5D6E-409C-BE32-E72D297353CC}">
              <c16:uniqueId val="{00000000-DF3D-4742-896D-FD806EC993F1}"/>
            </c:ext>
          </c:extLst>
        </c:ser>
        <c:ser>
          <c:idx val="1"/>
          <c:order val="1"/>
          <c:tx>
            <c:strRef>
              <c:f>'Pivot Tables'!$K$90:$K$91</c:f>
              <c:strCache>
                <c:ptCount val="1"/>
                <c:pt idx="0">
                  <c:v>Excelsa</c:v>
                </c:pt>
              </c:strCache>
            </c:strRef>
          </c:tx>
          <c:spPr>
            <a:ln w="28575" cap="rnd">
              <a:solidFill>
                <a:schemeClr val="accent2"/>
              </a:solidFill>
              <a:round/>
            </a:ln>
            <a:effectLst/>
          </c:spPr>
          <c:marker>
            <c:symbol val="none"/>
          </c:marker>
          <c:cat>
            <c:strRef>
              <c:f>'Pivot Tables'!$I$92:$I$96</c:f>
              <c:strCache>
                <c:ptCount val="4"/>
                <c:pt idx="0">
                  <c:v>First Quarter</c:v>
                </c:pt>
                <c:pt idx="1">
                  <c:v>Fourth Quarter</c:v>
                </c:pt>
                <c:pt idx="2">
                  <c:v>Second Quarter</c:v>
                </c:pt>
                <c:pt idx="3">
                  <c:v>Third Quarter</c:v>
                </c:pt>
              </c:strCache>
            </c:strRef>
          </c:cat>
          <c:val>
            <c:numRef>
              <c:f>'Pivot Tables'!$K$92:$K$96</c:f>
              <c:numCache>
                <c:formatCode>_([$$-409]* #,##0.00_);_([$$-409]* \(#,##0.00\);_([$$-409]* "-"??_);_(@_)</c:formatCode>
                <c:ptCount val="4"/>
                <c:pt idx="0">
                  <c:v>2918.27</c:v>
                </c:pt>
                <c:pt idx="1">
                  <c:v>2868.1849999999995</c:v>
                </c:pt>
                <c:pt idx="2">
                  <c:v>4128.7549999999992</c:v>
                </c:pt>
                <c:pt idx="3">
                  <c:v>2391.2299999999996</c:v>
                </c:pt>
              </c:numCache>
            </c:numRef>
          </c:val>
          <c:smooth val="0"/>
          <c:extLst>
            <c:ext xmlns:c16="http://schemas.microsoft.com/office/drawing/2014/chart" uri="{C3380CC4-5D6E-409C-BE32-E72D297353CC}">
              <c16:uniqueId val="{00000001-DF3D-4742-896D-FD806EC993F1}"/>
            </c:ext>
          </c:extLst>
        </c:ser>
        <c:ser>
          <c:idx val="2"/>
          <c:order val="2"/>
          <c:tx>
            <c:strRef>
              <c:f>'Pivot Tables'!$L$90:$L$91</c:f>
              <c:strCache>
                <c:ptCount val="1"/>
                <c:pt idx="0">
                  <c:v>Liberica</c:v>
                </c:pt>
              </c:strCache>
            </c:strRef>
          </c:tx>
          <c:spPr>
            <a:ln w="28575" cap="rnd">
              <a:solidFill>
                <a:schemeClr val="accent3"/>
              </a:solidFill>
              <a:round/>
            </a:ln>
            <a:effectLst/>
          </c:spPr>
          <c:marker>
            <c:symbol val="none"/>
          </c:marker>
          <c:cat>
            <c:strRef>
              <c:f>'Pivot Tables'!$I$92:$I$96</c:f>
              <c:strCache>
                <c:ptCount val="4"/>
                <c:pt idx="0">
                  <c:v>First Quarter</c:v>
                </c:pt>
                <c:pt idx="1">
                  <c:v>Fourth Quarter</c:v>
                </c:pt>
                <c:pt idx="2">
                  <c:v>Second Quarter</c:v>
                </c:pt>
                <c:pt idx="3">
                  <c:v>Third Quarter</c:v>
                </c:pt>
              </c:strCache>
            </c:strRef>
          </c:cat>
          <c:val>
            <c:numRef>
              <c:f>'Pivot Tables'!$L$92:$L$96</c:f>
              <c:numCache>
                <c:formatCode>_([$$-409]* #,##0.00_);_([$$-409]* \(#,##0.00\);_([$$-409]* "-"??_);_(@_)</c:formatCode>
                <c:ptCount val="4"/>
                <c:pt idx="0">
                  <c:v>4052.1000000000017</c:v>
                </c:pt>
                <c:pt idx="1">
                  <c:v>3146.3549999999996</c:v>
                </c:pt>
                <c:pt idx="2">
                  <c:v>3067.4650000000006</c:v>
                </c:pt>
                <c:pt idx="3">
                  <c:v>1788.1549999999997</c:v>
                </c:pt>
              </c:numCache>
            </c:numRef>
          </c:val>
          <c:smooth val="0"/>
          <c:extLst>
            <c:ext xmlns:c16="http://schemas.microsoft.com/office/drawing/2014/chart" uri="{C3380CC4-5D6E-409C-BE32-E72D297353CC}">
              <c16:uniqueId val="{00000002-DF3D-4742-896D-FD806EC993F1}"/>
            </c:ext>
          </c:extLst>
        </c:ser>
        <c:ser>
          <c:idx val="3"/>
          <c:order val="3"/>
          <c:tx>
            <c:strRef>
              <c:f>'Pivot Tables'!$M$90:$M$91</c:f>
              <c:strCache>
                <c:ptCount val="1"/>
                <c:pt idx="0">
                  <c:v>Robusta</c:v>
                </c:pt>
              </c:strCache>
            </c:strRef>
          </c:tx>
          <c:spPr>
            <a:ln w="28575" cap="rnd">
              <a:solidFill>
                <a:schemeClr val="accent4"/>
              </a:solidFill>
              <a:round/>
            </a:ln>
            <a:effectLst/>
          </c:spPr>
          <c:marker>
            <c:symbol val="none"/>
          </c:marker>
          <c:cat>
            <c:strRef>
              <c:f>'Pivot Tables'!$I$92:$I$96</c:f>
              <c:strCache>
                <c:ptCount val="4"/>
                <c:pt idx="0">
                  <c:v>First Quarter</c:v>
                </c:pt>
                <c:pt idx="1">
                  <c:v>Fourth Quarter</c:v>
                </c:pt>
                <c:pt idx="2">
                  <c:v>Second Quarter</c:v>
                </c:pt>
                <c:pt idx="3">
                  <c:v>Third Quarter</c:v>
                </c:pt>
              </c:strCache>
            </c:strRef>
          </c:cat>
          <c:val>
            <c:numRef>
              <c:f>'Pivot Tables'!$M$92:$M$96</c:f>
              <c:numCache>
                <c:formatCode>_([$$-409]* #,##0.00_);_([$$-409]* \(#,##0.00\);_([$$-409]* "-"??_);_(@_)</c:formatCode>
                <c:ptCount val="4"/>
                <c:pt idx="0">
                  <c:v>2355.5249999999992</c:v>
                </c:pt>
                <c:pt idx="1">
                  <c:v>1534.2349999999997</c:v>
                </c:pt>
                <c:pt idx="2">
                  <c:v>2390.4449999999974</c:v>
                </c:pt>
                <c:pt idx="3">
                  <c:v>2725.0400000000004</c:v>
                </c:pt>
              </c:numCache>
            </c:numRef>
          </c:val>
          <c:smooth val="0"/>
          <c:extLst>
            <c:ext xmlns:c16="http://schemas.microsoft.com/office/drawing/2014/chart" uri="{C3380CC4-5D6E-409C-BE32-E72D297353CC}">
              <c16:uniqueId val="{00000003-DF3D-4742-896D-FD806EC993F1}"/>
            </c:ext>
          </c:extLst>
        </c:ser>
        <c:dLbls>
          <c:showLegendKey val="0"/>
          <c:showVal val="0"/>
          <c:showCatName val="0"/>
          <c:showSerName val="0"/>
          <c:showPercent val="0"/>
          <c:showBubbleSize val="0"/>
        </c:dLbls>
        <c:smooth val="0"/>
        <c:axId val="806643616"/>
        <c:axId val="603243040"/>
      </c:lineChart>
      <c:catAx>
        <c:axId val="806643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603243040"/>
        <c:crosses val="autoZero"/>
        <c:auto val="1"/>
        <c:lblAlgn val="ctr"/>
        <c:lblOffset val="100"/>
        <c:noMultiLvlLbl val="0"/>
      </c:catAx>
      <c:valAx>
        <c:axId val="603243040"/>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Currency (USD)</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806643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Tables!SeasonalTable</c:name>
    <c:fmtId val="42"/>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Seasonal Sales Trends by Coffee &amp; Roast Types</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 Tables'!$B$98:$B$99</c:f>
              <c:strCache>
                <c:ptCount val="1"/>
                <c:pt idx="0">
                  <c:v>Arabica-Dark</c:v>
                </c:pt>
              </c:strCache>
            </c:strRef>
          </c:tx>
          <c:spPr>
            <a:ln w="28575" cap="rnd">
              <a:solidFill>
                <a:schemeClr val="accent1"/>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Tables'!$B$100:$B$104</c:f>
              <c:numCache>
                <c:formatCode>_([$$-409]* #,##0.00_);_([$$-409]* \(#,##0.00\);_([$$-409]* "-"??_);_(@_)</c:formatCode>
                <c:ptCount val="4"/>
                <c:pt idx="0">
                  <c:v>1056.6899999999998</c:v>
                </c:pt>
                <c:pt idx="1">
                  <c:v>390.04000000000013</c:v>
                </c:pt>
                <c:pt idx="2">
                  <c:v>869.63000000000011</c:v>
                </c:pt>
                <c:pt idx="3">
                  <c:v>731.32500000000027</c:v>
                </c:pt>
              </c:numCache>
            </c:numRef>
          </c:val>
          <c:smooth val="0"/>
          <c:extLst>
            <c:ext xmlns:c16="http://schemas.microsoft.com/office/drawing/2014/chart" uri="{C3380CC4-5D6E-409C-BE32-E72D297353CC}">
              <c16:uniqueId val="{00000000-7EDE-44E2-90D3-0F81F787D55B}"/>
            </c:ext>
          </c:extLst>
        </c:ser>
        <c:ser>
          <c:idx val="1"/>
          <c:order val="1"/>
          <c:tx>
            <c:strRef>
              <c:f>'Pivot Tables'!$C$98:$C$99</c:f>
              <c:strCache>
                <c:ptCount val="1"/>
                <c:pt idx="0">
                  <c:v>Arabica-Light</c:v>
                </c:pt>
              </c:strCache>
            </c:strRef>
          </c:tx>
          <c:spPr>
            <a:ln w="28575" cap="rnd">
              <a:solidFill>
                <a:schemeClr val="accent2"/>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Tables'!$C$100:$C$104</c:f>
              <c:numCache>
                <c:formatCode>_([$$-409]* #,##0.00_);_([$$-409]* \(#,##0.00\);_([$$-409]* "-"??_);_(@_)</c:formatCode>
                <c:ptCount val="4"/>
                <c:pt idx="0">
                  <c:v>1029.5249999999999</c:v>
                </c:pt>
                <c:pt idx="1">
                  <c:v>964.77499999999964</c:v>
                </c:pt>
                <c:pt idx="2">
                  <c:v>1319.6049999999998</c:v>
                </c:pt>
                <c:pt idx="3">
                  <c:v>918.15499999999986</c:v>
                </c:pt>
              </c:numCache>
            </c:numRef>
          </c:val>
          <c:smooth val="0"/>
          <c:extLst>
            <c:ext xmlns:c16="http://schemas.microsoft.com/office/drawing/2014/chart" uri="{C3380CC4-5D6E-409C-BE32-E72D297353CC}">
              <c16:uniqueId val="{00000001-7EDE-44E2-90D3-0F81F787D55B}"/>
            </c:ext>
          </c:extLst>
        </c:ser>
        <c:ser>
          <c:idx val="2"/>
          <c:order val="2"/>
          <c:tx>
            <c:strRef>
              <c:f>'Pivot Tables'!$D$98:$D$99</c:f>
              <c:strCache>
                <c:ptCount val="1"/>
                <c:pt idx="0">
                  <c:v>Arabica-Medium</c:v>
                </c:pt>
              </c:strCache>
            </c:strRef>
          </c:tx>
          <c:spPr>
            <a:ln w="28575" cap="rnd">
              <a:solidFill>
                <a:schemeClr val="accent3"/>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Tables'!$D$100:$D$104</c:f>
              <c:numCache>
                <c:formatCode>_([$$-409]* #,##0.00_);_([$$-409]* \(#,##0.00\);_([$$-409]* "-"??_);_(@_)</c:formatCode>
                <c:ptCount val="4"/>
                <c:pt idx="0">
                  <c:v>1188</c:v>
                </c:pt>
                <c:pt idx="1">
                  <c:v>1067.625</c:v>
                </c:pt>
                <c:pt idx="2">
                  <c:v>1062</c:v>
                </c:pt>
                <c:pt idx="3">
                  <c:v>1171.125</c:v>
                </c:pt>
              </c:numCache>
            </c:numRef>
          </c:val>
          <c:smooth val="0"/>
          <c:extLst>
            <c:ext xmlns:c16="http://schemas.microsoft.com/office/drawing/2014/chart" uri="{C3380CC4-5D6E-409C-BE32-E72D297353CC}">
              <c16:uniqueId val="{00000002-7EDE-44E2-90D3-0F81F787D55B}"/>
            </c:ext>
          </c:extLst>
        </c:ser>
        <c:ser>
          <c:idx val="3"/>
          <c:order val="3"/>
          <c:tx>
            <c:strRef>
              <c:f>'Pivot Tables'!$E$98:$E$99</c:f>
              <c:strCache>
                <c:ptCount val="1"/>
                <c:pt idx="0">
                  <c:v>Excelsa-Dark</c:v>
                </c:pt>
              </c:strCache>
            </c:strRef>
          </c:tx>
          <c:spPr>
            <a:ln w="28575" cap="rnd">
              <a:solidFill>
                <a:schemeClr val="accent4"/>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Tables'!$E$100:$E$104</c:f>
              <c:numCache>
                <c:formatCode>_([$$-409]* #,##0.00_);_([$$-409]* \(#,##0.00\);_([$$-409]* "-"??_);_(@_)</c:formatCode>
                <c:ptCount val="4"/>
                <c:pt idx="0">
                  <c:v>750.87</c:v>
                </c:pt>
                <c:pt idx="1">
                  <c:v>1023.0300000000001</c:v>
                </c:pt>
                <c:pt idx="2">
                  <c:v>471.42</c:v>
                </c:pt>
                <c:pt idx="3">
                  <c:v>1182.1949999999999</c:v>
                </c:pt>
              </c:numCache>
            </c:numRef>
          </c:val>
          <c:smooth val="0"/>
          <c:extLst>
            <c:ext xmlns:c16="http://schemas.microsoft.com/office/drawing/2014/chart" uri="{C3380CC4-5D6E-409C-BE32-E72D297353CC}">
              <c16:uniqueId val="{00000003-7EDE-44E2-90D3-0F81F787D55B}"/>
            </c:ext>
          </c:extLst>
        </c:ser>
        <c:ser>
          <c:idx val="4"/>
          <c:order val="4"/>
          <c:tx>
            <c:strRef>
              <c:f>'Pivot Tables'!$F$98:$F$99</c:f>
              <c:strCache>
                <c:ptCount val="1"/>
                <c:pt idx="0">
                  <c:v>Excelsa-Light</c:v>
                </c:pt>
              </c:strCache>
            </c:strRef>
          </c:tx>
          <c:spPr>
            <a:ln w="28575" cap="rnd">
              <a:solidFill>
                <a:schemeClr val="accent5"/>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Tables'!$F$100:$F$104</c:f>
              <c:numCache>
                <c:formatCode>_([$$-409]* #,##0.00_);_([$$-409]* \(#,##0.00\);_([$$-409]* "-"??_);_(@_)</c:formatCode>
                <c:ptCount val="4"/>
                <c:pt idx="0">
                  <c:v>898.42499999999995</c:v>
                </c:pt>
                <c:pt idx="1">
                  <c:v>1517.67</c:v>
                </c:pt>
                <c:pt idx="2">
                  <c:v>1220.6699999999998</c:v>
                </c:pt>
                <c:pt idx="3">
                  <c:v>1159.7849999999999</c:v>
                </c:pt>
              </c:numCache>
            </c:numRef>
          </c:val>
          <c:smooth val="0"/>
          <c:extLst>
            <c:ext xmlns:c16="http://schemas.microsoft.com/office/drawing/2014/chart" uri="{C3380CC4-5D6E-409C-BE32-E72D297353CC}">
              <c16:uniqueId val="{00000004-7EDE-44E2-90D3-0F81F787D55B}"/>
            </c:ext>
          </c:extLst>
        </c:ser>
        <c:ser>
          <c:idx val="5"/>
          <c:order val="5"/>
          <c:tx>
            <c:strRef>
              <c:f>'Pivot Tables'!$G$98:$G$99</c:f>
              <c:strCache>
                <c:ptCount val="1"/>
                <c:pt idx="0">
                  <c:v>Excelsa-Medium</c:v>
                </c:pt>
              </c:strCache>
            </c:strRef>
          </c:tx>
          <c:spPr>
            <a:ln w="28575" cap="rnd">
              <a:solidFill>
                <a:schemeClr val="accent6"/>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Tables'!$G$100:$G$104</c:f>
              <c:numCache>
                <c:formatCode>_([$$-409]* #,##0.00_);_([$$-409]* \(#,##0.00\);_([$$-409]* "-"??_);_(@_)</c:formatCode>
                <c:ptCount val="4"/>
                <c:pt idx="0">
                  <c:v>830.5</c:v>
                </c:pt>
                <c:pt idx="1">
                  <c:v>1254</c:v>
                </c:pt>
                <c:pt idx="2">
                  <c:v>1526.25</c:v>
                </c:pt>
                <c:pt idx="3">
                  <c:v>471.625</c:v>
                </c:pt>
              </c:numCache>
            </c:numRef>
          </c:val>
          <c:smooth val="0"/>
          <c:extLst>
            <c:ext xmlns:c16="http://schemas.microsoft.com/office/drawing/2014/chart" uri="{C3380CC4-5D6E-409C-BE32-E72D297353CC}">
              <c16:uniqueId val="{00000005-7EDE-44E2-90D3-0F81F787D55B}"/>
            </c:ext>
          </c:extLst>
        </c:ser>
        <c:ser>
          <c:idx val="6"/>
          <c:order val="6"/>
          <c:tx>
            <c:strRef>
              <c:f>'Pivot Tables'!$H$98:$H$99</c:f>
              <c:strCache>
                <c:ptCount val="1"/>
                <c:pt idx="0">
                  <c:v>Liberica-Dark</c:v>
                </c:pt>
              </c:strCache>
            </c:strRef>
          </c:tx>
          <c:spPr>
            <a:ln w="28575" cap="rnd">
              <a:solidFill>
                <a:schemeClr val="accent1">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Tables'!$H$100:$H$104</c:f>
              <c:numCache>
                <c:formatCode>_([$$-409]* #,##0.00_);_([$$-409]* \(#,##0.00\);_([$$-409]* "-"??_);_(@_)</c:formatCode>
                <c:ptCount val="4"/>
                <c:pt idx="0">
                  <c:v>1297.5899999999995</c:v>
                </c:pt>
                <c:pt idx="1">
                  <c:v>801.60499999999979</c:v>
                </c:pt>
                <c:pt idx="2">
                  <c:v>779.58999999999992</c:v>
                </c:pt>
                <c:pt idx="3">
                  <c:v>1217.2999999999997</c:v>
                </c:pt>
              </c:numCache>
            </c:numRef>
          </c:val>
          <c:smooth val="0"/>
          <c:extLst>
            <c:ext xmlns:c16="http://schemas.microsoft.com/office/drawing/2014/chart" uri="{C3380CC4-5D6E-409C-BE32-E72D297353CC}">
              <c16:uniqueId val="{00000006-7EDE-44E2-90D3-0F81F787D55B}"/>
            </c:ext>
          </c:extLst>
        </c:ser>
        <c:ser>
          <c:idx val="7"/>
          <c:order val="7"/>
          <c:tx>
            <c:strRef>
              <c:f>'Pivot Tables'!$I$98:$I$99</c:f>
              <c:strCache>
                <c:ptCount val="1"/>
                <c:pt idx="0">
                  <c:v>Liberica-Light</c:v>
                </c:pt>
              </c:strCache>
            </c:strRef>
          </c:tx>
          <c:spPr>
            <a:ln w="28575" cap="rnd">
              <a:solidFill>
                <a:schemeClr val="accent2">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Tables'!$I$100:$I$104</c:f>
              <c:numCache>
                <c:formatCode>_([$$-409]* #,##0.00_);_([$$-409]* \(#,##0.00\);_([$$-409]* "-"??_);_(@_)</c:formatCode>
                <c:ptCount val="4"/>
                <c:pt idx="0">
                  <c:v>1001.72</c:v>
                </c:pt>
                <c:pt idx="1">
                  <c:v>1556.4700000000003</c:v>
                </c:pt>
                <c:pt idx="2">
                  <c:v>868.57999999999981</c:v>
                </c:pt>
                <c:pt idx="3">
                  <c:v>1139.6149999999998</c:v>
                </c:pt>
              </c:numCache>
            </c:numRef>
          </c:val>
          <c:smooth val="0"/>
          <c:extLst>
            <c:ext xmlns:c16="http://schemas.microsoft.com/office/drawing/2014/chart" uri="{C3380CC4-5D6E-409C-BE32-E72D297353CC}">
              <c16:uniqueId val="{00000007-7EDE-44E2-90D3-0F81F787D55B}"/>
            </c:ext>
          </c:extLst>
        </c:ser>
        <c:ser>
          <c:idx val="8"/>
          <c:order val="8"/>
          <c:tx>
            <c:strRef>
              <c:f>'Pivot Tables'!$J$98:$J$99</c:f>
              <c:strCache>
                <c:ptCount val="1"/>
                <c:pt idx="0">
                  <c:v>Liberica-Medium</c:v>
                </c:pt>
              </c:strCache>
            </c:strRef>
          </c:tx>
          <c:spPr>
            <a:ln w="28575" cap="rnd">
              <a:solidFill>
                <a:schemeClr val="accent3">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Tables'!$J$100:$J$104</c:f>
              <c:numCache>
                <c:formatCode>_([$$-409]* #,##0.00_);_([$$-409]* \(#,##0.00\);_([$$-409]* "-"??_);_(@_)</c:formatCode>
                <c:ptCount val="4"/>
                <c:pt idx="0">
                  <c:v>877.36500000000012</c:v>
                </c:pt>
                <c:pt idx="1">
                  <c:v>1273.125</c:v>
                </c:pt>
                <c:pt idx="2">
                  <c:v>346.29000000000008</c:v>
                </c:pt>
                <c:pt idx="3">
                  <c:v>894.82499999999993</c:v>
                </c:pt>
              </c:numCache>
            </c:numRef>
          </c:val>
          <c:smooth val="0"/>
          <c:extLst>
            <c:ext xmlns:c16="http://schemas.microsoft.com/office/drawing/2014/chart" uri="{C3380CC4-5D6E-409C-BE32-E72D297353CC}">
              <c16:uniqueId val="{00000008-7EDE-44E2-90D3-0F81F787D55B}"/>
            </c:ext>
          </c:extLst>
        </c:ser>
        <c:ser>
          <c:idx val="9"/>
          <c:order val="9"/>
          <c:tx>
            <c:strRef>
              <c:f>'Pivot Tables'!$K$98:$K$99</c:f>
              <c:strCache>
                <c:ptCount val="1"/>
                <c:pt idx="0">
                  <c:v>Robusta-Dark</c:v>
                </c:pt>
              </c:strCache>
            </c:strRef>
          </c:tx>
          <c:spPr>
            <a:ln w="28575" cap="rnd">
              <a:solidFill>
                <a:schemeClr val="accent4">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Tables'!$K$100:$K$104</c:f>
              <c:numCache>
                <c:formatCode>_([$$-409]* #,##0.00_);_([$$-409]* \(#,##0.00\);_([$$-409]* "-"??_);_(@_)</c:formatCode>
                <c:ptCount val="4"/>
                <c:pt idx="0">
                  <c:v>222.85499999999999</c:v>
                </c:pt>
                <c:pt idx="1">
                  <c:v>867.255</c:v>
                </c:pt>
                <c:pt idx="2">
                  <c:v>1175.135</c:v>
                </c:pt>
                <c:pt idx="3">
                  <c:v>342.78499999999997</c:v>
                </c:pt>
              </c:numCache>
            </c:numRef>
          </c:val>
          <c:smooth val="0"/>
          <c:extLst>
            <c:ext xmlns:c16="http://schemas.microsoft.com/office/drawing/2014/chart" uri="{C3380CC4-5D6E-409C-BE32-E72D297353CC}">
              <c16:uniqueId val="{00000009-7EDE-44E2-90D3-0F81F787D55B}"/>
            </c:ext>
          </c:extLst>
        </c:ser>
        <c:ser>
          <c:idx val="10"/>
          <c:order val="10"/>
          <c:tx>
            <c:strRef>
              <c:f>'Pivot Tables'!$L$98:$L$99</c:f>
              <c:strCache>
                <c:ptCount val="1"/>
                <c:pt idx="0">
                  <c:v>Robusta-Light</c:v>
                </c:pt>
              </c:strCache>
            </c:strRef>
          </c:tx>
          <c:spPr>
            <a:ln w="28575" cap="rnd">
              <a:solidFill>
                <a:schemeClr val="accent5">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Tables'!$L$100:$L$104</c:f>
              <c:numCache>
                <c:formatCode>_([$$-409]* #,##0.00_);_([$$-409]* \(#,##0.00\);_([$$-409]* "-"??_);_(@_)</c:formatCode>
                <c:ptCount val="4"/>
                <c:pt idx="0">
                  <c:v>950.02499999999975</c:v>
                </c:pt>
                <c:pt idx="1">
                  <c:v>901.02999999999975</c:v>
                </c:pt>
                <c:pt idx="2">
                  <c:v>822.15999999999985</c:v>
                </c:pt>
                <c:pt idx="3">
                  <c:v>1086.2549999999999</c:v>
                </c:pt>
              </c:numCache>
            </c:numRef>
          </c:val>
          <c:smooth val="0"/>
          <c:extLst>
            <c:ext xmlns:c16="http://schemas.microsoft.com/office/drawing/2014/chart" uri="{C3380CC4-5D6E-409C-BE32-E72D297353CC}">
              <c16:uniqueId val="{0000000A-7EDE-44E2-90D3-0F81F787D55B}"/>
            </c:ext>
          </c:extLst>
        </c:ser>
        <c:ser>
          <c:idx val="11"/>
          <c:order val="11"/>
          <c:tx>
            <c:strRef>
              <c:f>'Pivot Tables'!$M$98:$M$99</c:f>
              <c:strCache>
                <c:ptCount val="1"/>
                <c:pt idx="0">
                  <c:v>Robusta-Medium</c:v>
                </c:pt>
              </c:strCache>
            </c:strRef>
          </c:tx>
          <c:spPr>
            <a:ln w="28575" cap="rnd">
              <a:solidFill>
                <a:schemeClr val="accent6">
                  <a:lumMod val="60000"/>
                </a:schemeClr>
              </a:solidFill>
              <a:round/>
            </a:ln>
            <a:effectLst/>
          </c:spPr>
          <c:marker>
            <c:symbol val="none"/>
          </c:marker>
          <c:cat>
            <c:strRef>
              <c:f>'Pivot Tables'!$A$100:$A$104</c:f>
              <c:strCache>
                <c:ptCount val="4"/>
                <c:pt idx="0">
                  <c:v>Autumn</c:v>
                </c:pt>
                <c:pt idx="1">
                  <c:v>Spring</c:v>
                </c:pt>
                <c:pt idx="2">
                  <c:v>Summer</c:v>
                </c:pt>
                <c:pt idx="3">
                  <c:v>Winter</c:v>
                </c:pt>
              </c:strCache>
            </c:strRef>
          </c:cat>
          <c:val>
            <c:numRef>
              <c:f>'Pivot Tables'!$M$100:$M$104</c:f>
              <c:numCache>
                <c:formatCode>_([$$-409]* #,##0.00_);_([$$-409]* \(#,##0.00\);_([$$-409]* "-"??_);_(@_)</c:formatCode>
                <c:ptCount val="4"/>
                <c:pt idx="0">
                  <c:v>878.58500000000004</c:v>
                </c:pt>
                <c:pt idx="1">
                  <c:v>651.72500000000002</c:v>
                </c:pt>
                <c:pt idx="2">
                  <c:v>691.52499999999998</c:v>
                </c:pt>
                <c:pt idx="3">
                  <c:v>415.90999999999997</c:v>
                </c:pt>
              </c:numCache>
            </c:numRef>
          </c:val>
          <c:smooth val="0"/>
          <c:extLst>
            <c:ext xmlns:c16="http://schemas.microsoft.com/office/drawing/2014/chart" uri="{C3380CC4-5D6E-409C-BE32-E72D297353CC}">
              <c16:uniqueId val="{0000000B-7EDE-44E2-90D3-0F81F787D55B}"/>
            </c:ext>
          </c:extLst>
        </c:ser>
        <c:dLbls>
          <c:showLegendKey val="0"/>
          <c:showVal val="0"/>
          <c:showCatName val="0"/>
          <c:showSerName val="0"/>
          <c:showPercent val="0"/>
          <c:showBubbleSize val="0"/>
        </c:dLbls>
        <c:smooth val="0"/>
        <c:axId val="1120092912"/>
        <c:axId val="1120101072"/>
      </c:lineChart>
      <c:catAx>
        <c:axId val="112009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120101072"/>
        <c:crosses val="autoZero"/>
        <c:auto val="1"/>
        <c:lblAlgn val="ctr"/>
        <c:lblOffset val="100"/>
        <c:noMultiLvlLbl val="0"/>
      </c:catAx>
      <c:valAx>
        <c:axId val="1120101072"/>
        <c:scaling>
          <c:orientation val="minMax"/>
        </c:scaling>
        <c:delete val="0"/>
        <c:axPos val="l"/>
        <c:majorGridlines>
          <c:spPr>
            <a:ln w="9525" cap="flat" cmpd="sng" algn="ctr">
              <a:solidFill>
                <a:schemeClr val="bg1"/>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Currency (USD)</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11200929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[coffeeOrdersData.xlsx]Pivot Tables!GrowthRateTable</c:name>
    <c:fmtId val="30"/>
  </c:pivotSource>
  <c:chart>
    <c:title>
      <c:tx>
        <c:rich>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r>
              <a:rPr lang="en-GB" sz="1400" b="0" i="0" u="none" strike="noStrike" baseline="0" noProof="0" dirty="0">
                <a:solidFill>
                  <a:srgbClr val="3C1464"/>
                </a:solidFill>
              </a:rPr>
              <a:t>Year-over-Year Sales Performance</a:t>
            </a:r>
            <a:endParaRPr lang="en-GB" noProof="0" dirty="0">
              <a:solidFill>
                <a:srgbClr val="3C1464"/>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C1464"/>
              </a:solidFill>
              <a:latin typeface="+mn-lt"/>
              <a:ea typeface="+mn-ea"/>
              <a:cs typeface="+mn-cs"/>
            </a:defRPr>
          </a:pPr>
          <a:endParaRPr lang="en-GB"/>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Tables'!$B$106</c:f>
              <c:strCache>
                <c:ptCount val="1"/>
                <c:pt idx="0">
                  <c:v>Total Sales</c:v>
                </c:pt>
              </c:strCache>
            </c:strRef>
          </c:tx>
          <c:spPr>
            <a:solidFill>
              <a:srgbClr val="00B0F0"/>
            </a:solidFill>
            <a:ln>
              <a:noFill/>
            </a:ln>
            <a:effectLst/>
          </c:spPr>
          <c:invertIfNegative val="0"/>
          <c:cat>
            <c:strRef>
              <c:f>'Pivot Tables'!$A$107:$A$111</c:f>
              <c:strCache>
                <c:ptCount val="4"/>
                <c:pt idx="0">
                  <c:v>2019</c:v>
                </c:pt>
                <c:pt idx="1">
                  <c:v>2020</c:v>
                </c:pt>
                <c:pt idx="2">
                  <c:v>2021</c:v>
                </c:pt>
                <c:pt idx="3">
                  <c:v>2022</c:v>
                </c:pt>
              </c:strCache>
            </c:strRef>
          </c:cat>
          <c:val>
            <c:numRef>
              <c:f>'Pivot Tables'!$B$107:$B$111</c:f>
              <c:numCache>
                <c:formatCode>_([$$-409]* #,##0.00_);_([$$-409]* \(#,##0.00\);_([$$-409]* "-"??_);_(@_)</c:formatCode>
                <c:ptCount val="4"/>
                <c:pt idx="0">
                  <c:v>12187.164999999995</c:v>
                </c:pt>
                <c:pt idx="1">
                  <c:v>12117.544999999995</c:v>
                </c:pt>
                <c:pt idx="2">
                  <c:v>13766.109999999999</c:v>
                </c:pt>
                <c:pt idx="3">
                  <c:v>7063.4349999999995</c:v>
                </c:pt>
              </c:numCache>
            </c:numRef>
          </c:val>
          <c:extLst>
            <c:ext xmlns:c16="http://schemas.microsoft.com/office/drawing/2014/chart" uri="{C3380CC4-5D6E-409C-BE32-E72D297353CC}">
              <c16:uniqueId val="{00000000-4153-40C0-A114-52B266E960DC}"/>
            </c:ext>
          </c:extLst>
        </c:ser>
        <c:dLbls>
          <c:showLegendKey val="0"/>
          <c:showVal val="0"/>
          <c:showCatName val="0"/>
          <c:showSerName val="0"/>
          <c:showPercent val="0"/>
          <c:showBubbleSize val="0"/>
        </c:dLbls>
        <c:gapWidth val="219"/>
        <c:overlap val="-27"/>
        <c:axId val="770858207"/>
        <c:axId val="770856767"/>
      </c:barChart>
      <c:lineChart>
        <c:grouping val="standard"/>
        <c:varyColors val="0"/>
        <c:ser>
          <c:idx val="1"/>
          <c:order val="1"/>
          <c:tx>
            <c:strRef>
              <c:f>'Pivot Tables'!$C$106</c:f>
              <c:strCache>
                <c:ptCount val="1"/>
                <c:pt idx="0">
                  <c:v>YoY Growth %</c:v>
                </c:pt>
              </c:strCache>
            </c:strRef>
          </c:tx>
          <c:spPr>
            <a:ln w="28575" cap="rnd">
              <a:solidFill>
                <a:srgbClr val="FFC000"/>
              </a:solidFill>
              <a:round/>
            </a:ln>
            <a:effectLst/>
          </c:spPr>
          <c:marker>
            <c:symbol val="none"/>
          </c:marker>
          <c:cat>
            <c:strRef>
              <c:f>'Pivot Tables'!$A$107:$A$111</c:f>
              <c:strCache>
                <c:ptCount val="4"/>
                <c:pt idx="0">
                  <c:v>2019</c:v>
                </c:pt>
                <c:pt idx="1">
                  <c:v>2020</c:v>
                </c:pt>
                <c:pt idx="2">
                  <c:v>2021</c:v>
                </c:pt>
                <c:pt idx="3">
                  <c:v>2022</c:v>
                </c:pt>
              </c:strCache>
            </c:strRef>
          </c:cat>
          <c:val>
            <c:numRef>
              <c:f>'Pivot Tables'!$C$107:$C$111</c:f>
              <c:numCache>
                <c:formatCode>0.00%</c:formatCode>
                <c:ptCount val="4"/>
                <c:pt idx="1">
                  <c:v>-5.7125672787724487E-3</c:v>
                </c:pt>
                <c:pt idx="2">
                  <c:v>0.13604777205283783</c:v>
                </c:pt>
                <c:pt idx="3">
                  <c:v>-0.48689680672317742</c:v>
                </c:pt>
              </c:numCache>
            </c:numRef>
          </c:val>
          <c:smooth val="0"/>
          <c:extLst>
            <c:ext xmlns:c16="http://schemas.microsoft.com/office/drawing/2014/chart" uri="{C3380CC4-5D6E-409C-BE32-E72D297353CC}">
              <c16:uniqueId val="{00000001-4153-40C0-A114-52B266E960DC}"/>
            </c:ext>
          </c:extLst>
        </c:ser>
        <c:dLbls>
          <c:showLegendKey val="0"/>
          <c:showVal val="0"/>
          <c:showCatName val="0"/>
          <c:showSerName val="0"/>
          <c:showPercent val="0"/>
          <c:showBubbleSize val="0"/>
        </c:dLbls>
        <c:marker val="1"/>
        <c:smooth val="0"/>
        <c:axId val="770859919"/>
        <c:axId val="770861839"/>
      </c:lineChart>
      <c:catAx>
        <c:axId val="770858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770856767"/>
        <c:crosses val="autoZero"/>
        <c:auto val="1"/>
        <c:lblAlgn val="ctr"/>
        <c:lblOffset val="100"/>
        <c:noMultiLvlLbl val="0"/>
      </c:catAx>
      <c:valAx>
        <c:axId val="77085676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err="1">
                    <a:solidFill>
                      <a:srgbClr val="3C1464"/>
                    </a:solidFill>
                  </a:rPr>
                  <a:t>Currenyc</a:t>
                </a:r>
                <a:r>
                  <a:rPr lang="en-GB" baseline="0" noProof="0" dirty="0">
                    <a:solidFill>
                      <a:srgbClr val="3C1464"/>
                    </a:solidFill>
                  </a:rPr>
                  <a:t> (USD)</a:t>
                </a:r>
                <a:endParaRPr lang="en-GB" noProof="0" dirty="0">
                  <a:solidFill>
                    <a:srgbClr val="3C1464"/>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GB"/>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770858207"/>
        <c:crosses val="autoZero"/>
        <c:crossBetween val="between"/>
      </c:valAx>
      <c:valAx>
        <c:axId val="770861839"/>
        <c:scaling>
          <c:orientation val="minMax"/>
        </c:scaling>
        <c:delete val="0"/>
        <c:axPos val="r"/>
        <c:title>
          <c:tx>
            <c:rich>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r>
                  <a:rPr lang="en-GB" noProof="0" dirty="0">
                    <a:solidFill>
                      <a:srgbClr val="3C1464"/>
                    </a:solidFill>
                  </a:rPr>
                  <a:t>Growth Percentage</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C1464"/>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crossAx val="770859919"/>
        <c:crosses val="max"/>
        <c:crossBetween val="between"/>
      </c:valAx>
      <c:catAx>
        <c:axId val="770859919"/>
        <c:scaling>
          <c:orientation val="minMax"/>
        </c:scaling>
        <c:delete val="1"/>
        <c:axPos val="b"/>
        <c:numFmt formatCode="General" sourceLinked="1"/>
        <c:majorTickMark val="out"/>
        <c:minorTickMark val="none"/>
        <c:tickLblPos val="nextTo"/>
        <c:crossAx val="77086183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C1464"/>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0CBF5"/>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927F481-F7B6-4151-96AC-4DC2924BFFE2}"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21BB57-6FD6-4B2A-B958-CB0CDF023C64}" type="slidenum">
              <a:rPr lang="en-GB" smtClean="0"/>
              <a:t>‹#›</a:t>
            </a:fld>
            <a:endParaRPr lang="en-GB"/>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302007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27F481-F7B6-4151-96AC-4DC2924BFFE2}"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3229006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27F481-F7B6-4151-96AC-4DC2924BFFE2}"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21BB57-6FD6-4B2A-B958-CB0CDF023C6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89000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27F481-F7B6-4151-96AC-4DC2924BFFE2}"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17236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7F481-F7B6-4151-96AC-4DC2924BFFE2}" type="datetimeFigureOut">
              <a:rPr lang="en-GB" smtClean="0"/>
              <a:t>03/02/2026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2405468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27F481-F7B6-4151-96AC-4DC2924BFFE2}" type="datetimeFigureOut">
              <a:rPr lang="en-GB" smtClean="0"/>
              <a:t>03/02/2026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1232215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7F481-F7B6-4151-96AC-4DC2924BFFE2}" type="datetimeFigureOut">
              <a:rPr lang="en-GB" smtClean="0"/>
              <a:t>03/02/2026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35845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27F481-F7B6-4151-96AC-4DC2924BFFE2}"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213401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27F481-F7B6-4151-96AC-4DC2924BFFE2}" type="datetimeFigureOut">
              <a:rPr lang="en-GB" smtClean="0"/>
              <a:t>03/02/2026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21BB57-6FD6-4B2A-B958-CB0CDF023C6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4920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27F481-F7B6-4151-96AC-4DC2924BFFE2}"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21BB57-6FD6-4B2A-B958-CB0CDF023C64}" type="slidenum">
              <a:rPr lang="en-GB" smtClean="0"/>
              <a:t>‹#›</a:t>
            </a:fld>
            <a:endParaRPr lang="en-GB"/>
          </a:p>
        </p:txBody>
      </p:sp>
    </p:spTree>
    <p:extLst>
      <p:ext uri="{BB962C8B-B14F-4D97-AF65-F5344CB8AC3E}">
        <p14:creationId xmlns:p14="http://schemas.microsoft.com/office/powerpoint/2010/main" val="2477320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27F481-F7B6-4151-96AC-4DC2924BFFE2}" type="datetimeFigureOut">
              <a:rPr lang="en-GB" smtClean="0"/>
              <a:t>03/02/2026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21BB57-6FD6-4B2A-B958-CB0CDF023C64}" type="slidenum">
              <a:rPr lang="en-GB" smtClean="0"/>
              <a:t>‹#›</a:t>
            </a:fld>
            <a:endParaRPr lang="en-GB"/>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825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927F481-F7B6-4151-96AC-4DC2924BFFE2}" type="datetimeFigureOut">
              <a:rPr lang="en-GB" smtClean="0"/>
              <a:t>03/02/2026</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121BB57-6FD6-4B2A-B958-CB0CDF023C64}" type="slidenum">
              <a:rPr lang="en-GB" smtClean="0"/>
              <a:t>‹#›</a:t>
            </a:fld>
            <a:endParaRPr lang="en-GB"/>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819065"/>
      </p:ext>
    </p:extLst>
  </p:cSld>
  <p:clrMap bg1="dk1" tx1="lt1" bg2="dk2" tx2="lt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 Id="rId5" Type="http://schemas.openxmlformats.org/officeDocument/2006/relationships/chart" Target="../charts/chart17.xml"/><Relationship Id="rId4" Type="http://schemas.openxmlformats.org/officeDocument/2006/relationships/chart" Target="../charts/char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C24F-314C-4171-B9E4-E79C08FF701D}"/>
              </a:ext>
            </a:extLst>
          </p:cNvPr>
          <p:cNvSpPr>
            <a:spLocks noGrp="1"/>
          </p:cNvSpPr>
          <p:nvPr>
            <p:ph type="ctrTitle"/>
          </p:nvPr>
        </p:nvSpPr>
        <p:spPr/>
        <p:txBody>
          <a:bodyPr/>
          <a:lstStyle/>
          <a:p>
            <a:r>
              <a:rPr lang="en-GB" noProof="0" dirty="0"/>
              <a:t>Stakeholder Data Storytelling Report</a:t>
            </a:r>
          </a:p>
        </p:txBody>
      </p:sp>
      <p:sp>
        <p:nvSpPr>
          <p:cNvPr id="3" name="Subtitle 2">
            <a:extLst>
              <a:ext uri="{FF2B5EF4-FFF2-40B4-BE49-F238E27FC236}">
                <a16:creationId xmlns:a16="http://schemas.microsoft.com/office/drawing/2014/main" id="{7AE08F76-FACF-BA8F-C3DD-0541B2AF5621}"/>
              </a:ext>
            </a:extLst>
          </p:cNvPr>
          <p:cNvSpPr>
            <a:spLocks noGrp="1"/>
          </p:cNvSpPr>
          <p:nvPr>
            <p:ph type="subTitle" idx="1"/>
          </p:nvPr>
        </p:nvSpPr>
        <p:spPr/>
        <p:txBody>
          <a:bodyPr>
            <a:normAutofit fontScale="85000" lnSpcReduction="20000"/>
          </a:bodyPr>
          <a:lstStyle/>
          <a:p>
            <a:pPr algn="just"/>
            <a:r>
              <a:rPr lang="en-GB" noProof="0" dirty="0"/>
              <a:t>Tool used: MS Excel</a:t>
            </a:r>
          </a:p>
          <a:p>
            <a:pPr algn="just"/>
            <a:r>
              <a:rPr lang="en-GB" u="sng" noProof="0" dirty="0"/>
              <a:t>Author: Hristo Petkov   </a:t>
            </a:r>
          </a:p>
          <a:p>
            <a:pPr algn="just"/>
            <a:r>
              <a:rPr lang="en-GB" noProof="0" dirty="0"/>
              <a:t>Data Analyst * Data Visualisation Specialist * Researcher * Software Developer ** I analyse and visualise data, conduct research and invent new things</a:t>
            </a:r>
          </a:p>
        </p:txBody>
      </p:sp>
    </p:spTree>
    <p:extLst>
      <p:ext uri="{BB962C8B-B14F-4D97-AF65-F5344CB8AC3E}">
        <p14:creationId xmlns:p14="http://schemas.microsoft.com/office/powerpoint/2010/main" val="3873225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4BCA3-CC01-9A67-6FC4-3942C38FB91B}"/>
              </a:ext>
            </a:extLst>
          </p:cNvPr>
          <p:cNvSpPr>
            <a:spLocks noGrp="1"/>
          </p:cNvSpPr>
          <p:nvPr>
            <p:ph type="title"/>
          </p:nvPr>
        </p:nvSpPr>
        <p:spPr/>
        <p:txBody>
          <a:bodyPr/>
          <a:lstStyle/>
          <a:p>
            <a:r>
              <a:rPr lang="en-GB" noProof="0" dirty="0"/>
              <a:t>Contents (1)</a:t>
            </a:r>
          </a:p>
        </p:txBody>
      </p:sp>
      <p:sp>
        <p:nvSpPr>
          <p:cNvPr id="3" name="Content Placeholder 2">
            <a:extLst>
              <a:ext uri="{FF2B5EF4-FFF2-40B4-BE49-F238E27FC236}">
                <a16:creationId xmlns:a16="http://schemas.microsoft.com/office/drawing/2014/main" id="{67459DCF-AE48-9F1D-4384-54A11A8D10C4}"/>
              </a:ext>
            </a:extLst>
          </p:cNvPr>
          <p:cNvSpPr>
            <a:spLocks noGrp="1"/>
          </p:cNvSpPr>
          <p:nvPr>
            <p:ph idx="1"/>
          </p:nvPr>
        </p:nvSpPr>
        <p:spPr/>
        <p:txBody>
          <a:bodyPr/>
          <a:lstStyle/>
          <a:p>
            <a:pPr>
              <a:buFont typeface="Wingdings" panose="05000000000000000000" pitchFamily="2" charset="2"/>
              <a:buChar char="Ø"/>
            </a:pPr>
            <a:r>
              <a:rPr lang="en-GB" noProof="0" dirty="0"/>
              <a:t> Introduction</a:t>
            </a:r>
          </a:p>
          <a:p>
            <a:pPr>
              <a:buFont typeface="Wingdings" panose="05000000000000000000" pitchFamily="2" charset="2"/>
              <a:buChar char="Ø"/>
            </a:pPr>
            <a:r>
              <a:rPr lang="en-GB" noProof="0" dirty="0"/>
              <a:t> Analytical Focus &amp; Key Business Questions</a:t>
            </a:r>
          </a:p>
          <a:p>
            <a:pPr>
              <a:buFont typeface="Wingdings" panose="05000000000000000000" pitchFamily="2" charset="2"/>
              <a:buChar char="Ø"/>
            </a:pPr>
            <a:r>
              <a:rPr lang="en-GB" noProof="0" dirty="0"/>
              <a:t> High-Volume vs. High-Value Coffees by Country</a:t>
            </a:r>
          </a:p>
          <a:p>
            <a:pPr lvl="1">
              <a:buFont typeface="Wingdings" panose="05000000000000000000" pitchFamily="2" charset="2"/>
              <a:buChar char="Ø"/>
            </a:pPr>
            <a:r>
              <a:rPr lang="en-GB" noProof="0" dirty="0"/>
              <a:t> Significance</a:t>
            </a:r>
          </a:p>
          <a:p>
            <a:pPr lvl="1">
              <a:buFont typeface="Wingdings" panose="05000000000000000000" pitchFamily="2" charset="2"/>
              <a:buChar char="Ø"/>
            </a:pPr>
            <a:r>
              <a:rPr lang="en-GB" noProof="0" dirty="0"/>
              <a:t> Visuals</a:t>
            </a:r>
          </a:p>
          <a:p>
            <a:pPr lvl="1">
              <a:buFont typeface="Wingdings" panose="05000000000000000000" pitchFamily="2" charset="2"/>
              <a:buChar char="Ø"/>
            </a:pPr>
            <a:r>
              <a:rPr lang="en-GB" noProof="0" dirty="0"/>
              <a:t> Interpretation</a:t>
            </a:r>
          </a:p>
          <a:p>
            <a:pPr>
              <a:buFont typeface="Wingdings" panose="05000000000000000000" pitchFamily="2" charset="2"/>
              <a:buChar char="Ø"/>
            </a:pPr>
            <a:r>
              <a:rPr lang="en-GB" noProof="0" dirty="0"/>
              <a:t> Investigating Top Customers’ Buying Behaviour </a:t>
            </a:r>
          </a:p>
          <a:p>
            <a:pPr lvl="1">
              <a:buFont typeface="Wingdings" panose="05000000000000000000" pitchFamily="2" charset="2"/>
              <a:buChar char="Ø"/>
            </a:pPr>
            <a:r>
              <a:rPr lang="en-GB" noProof="0" dirty="0"/>
              <a:t> Relevance</a:t>
            </a:r>
          </a:p>
          <a:p>
            <a:pPr lvl="1">
              <a:buFont typeface="Wingdings" panose="05000000000000000000" pitchFamily="2" charset="2"/>
              <a:buChar char="Ø"/>
            </a:pPr>
            <a:r>
              <a:rPr lang="en-GB" noProof="0" dirty="0"/>
              <a:t> Visuals</a:t>
            </a:r>
          </a:p>
          <a:p>
            <a:pPr lvl="1">
              <a:buFont typeface="Wingdings" panose="05000000000000000000" pitchFamily="2" charset="2"/>
              <a:buChar char="Ø"/>
            </a:pPr>
            <a:r>
              <a:rPr lang="en-GB" noProof="0" dirty="0"/>
              <a:t> Interpretation</a:t>
            </a:r>
          </a:p>
          <a:p>
            <a:pPr marL="128016" lvl="1" indent="0">
              <a:buNone/>
            </a:pPr>
            <a:endParaRPr lang="en-GB" noProof="0" dirty="0"/>
          </a:p>
        </p:txBody>
      </p:sp>
    </p:spTree>
    <p:extLst>
      <p:ext uri="{BB962C8B-B14F-4D97-AF65-F5344CB8AC3E}">
        <p14:creationId xmlns:p14="http://schemas.microsoft.com/office/powerpoint/2010/main" val="306069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D72B-1914-F9B1-494E-290C02B0F815}"/>
              </a:ext>
            </a:extLst>
          </p:cNvPr>
          <p:cNvSpPr>
            <a:spLocks noGrp="1"/>
          </p:cNvSpPr>
          <p:nvPr>
            <p:ph type="title"/>
          </p:nvPr>
        </p:nvSpPr>
        <p:spPr/>
        <p:txBody>
          <a:bodyPr/>
          <a:lstStyle/>
          <a:p>
            <a:r>
              <a:rPr lang="en-GB" noProof="0" dirty="0"/>
              <a:t>CONTENTS (2)</a:t>
            </a:r>
          </a:p>
        </p:txBody>
      </p:sp>
      <p:sp>
        <p:nvSpPr>
          <p:cNvPr id="3" name="Content Placeholder 2">
            <a:extLst>
              <a:ext uri="{FF2B5EF4-FFF2-40B4-BE49-F238E27FC236}">
                <a16:creationId xmlns:a16="http://schemas.microsoft.com/office/drawing/2014/main" id="{2D563531-5F3F-FA93-B83B-585B7A0A1CE8}"/>
              </a:ext>
            </a:extLst>
          </p:cNvPr>
          <p:cNvSpPr>
            <a:spLocks noGrp="1"/>
          </p:cNvSpPr>
          <p:nvPr>
            <p:ph idx="1"/>
          </p:nvPr>
        </p:nvSpPr>
        <p:spPr/>
        <p:txBody>
          <a:bodyPr>
            <a:normAutofit fontScale="92500" lnSpcReduction="20000"/>
          </a:bodyPr>
          <a:lstStyle/>
          <a:p>
            <a:pPr>
              <a:buFont typeface="Wingdings" panose="05000000000000000000" pitchFamily="2" charset="2"/>
              <a:buChar char="Ø"/>
            </a:pPr>
            <a:r>
              <a:rPr lang="en-GB" noProof="0" dirty="0"/>
              <a:t> Loyalty Program Effectiveness: Spending &amp; Frequency Impact</a:t>
            </a:r>
          </a:p>
          <a:p>
            <a:pPr lvl="1">
              <a:buFont typeface="Wingdings" panose="05000000000000000000" pitchFamily="2" charset="2"/>
              <a:buChar char="Ø"/>
            </a:pPr>
            <a:r>
              <a:rPr lang="en-GB" noProof="0" dirty="0"/>
              <a:t>Importance </a:t>
            </a:r>
          </a:p>
          <a:p>
            <a:pPr lvl="1">
              <a:buFont typeface="Wingdings" panose="05000000000000000000" pitchFamily="2" charset="2"/>
              <a:buChar char="Ø"/>
            </a:pPr>
            <a:r>
              <a:rPr lang="en-GB" noProof="0" dirty="0"/>
              <a:t> Visuals</a:t>
            </a:r>
          </a:p>
          <a:p>
            <a:pPr lvl="1">
              <a:buFont typeface="Wingdings" panose="05000000000000000000" pitchFamily="2" charset="2"/>
              <a:buChar char="Ø"/>
            </a:pPr>
            <a:r>
              <a:rPr lang="en-GB" noProof="0" dirty="0"/>
              <a:t>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Price–Volume Trade-offs Across Product Sizes</a:t>
            </a:r>
          </a:p>
          <a:p>
            <a:pPr lvl="1">
              <a:buFont typeface="Wingdings" panose="05000000000000000000" pitchFamily="2" charset="2"/>
              <a:buChar char="Ø"/>
            </a:pPr>
            <a:r>
              <a:rPr lang="en-GB" noProof="0" dirty="0"/>
              <a:t> Significance</a:t>
            </a:r>
          </a:p>
          <a:p>
            <a:pPr lvl="1">
              <a:buFont typeface="Wingdings" panose="05000000000000000000" pitchFamily="2" charset="2"/>
              <a:buChar char="Ø"/>
            </a:pPr>
            <a:r>
              <a:rPr lang="en-GB" noProof="0" dirty="0"/>
              <a:t> Visuals</a:t>
            </a:r>
          </a:p>
          <a:p>
            <a:pPr lvl="1">
              <a:buFont typeface="Wingdings" panose="05000000000000000000" pitchFamily="2" charset="2"/>
              <a:buChar char="Ø"/>
            </a:pPr>
            <a:r>
              <a:rPr lang="en-GB" noProof="0" dirty="0"/>
              <a:t> Interpretation</a:t>
            </a:r>
          </a:p>
          <a:p>
            <a:pPr lvl="0">
              <a:buClr>
                <a:srgbClr val="9CBEBD"/>
              </a:buClr>
              <a:buFont typeface="Wingdings" panose="05000000000000000000" pitchFamily="2" charset="2"/>
              <a:buChar char="Ø"/>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a:t>
            </a:r>
            <a:r>
              <a:rPr lang="en-GB" noProof="0" dirty="0">
                <a:solidFill>
                  <a:srgbClr val="FFFFFF"/>
                </a:solidFill>
              </a:rPr>
              <a:t>How Sales Evolve: Growth Trends &amp; Seasonal Coffee Patterns</a:t>
            </a:r>
          </a:p>
          <a:p>
            <a:pPr lvl="1">
              <a:buClr>
                <a:srgbClr val="9CBEBD"/>
              </a:buClr>
              <a:buFont typeface="Wingdings" panose="05000000000000000000" pitchFamily="2" charset="2"/>
              <a:buChar char="Ø"/>
              <a:defRPr/>
            </a:pPr>
            <a:r>
              <a:rPr kumimoji="0" lang="en-GB" b="0" i="0" u="none" strike="noStrike" kern="1200" cap="none" spc="0" normalizeH="0" baseline="0" noProof="0" dirty="0">
                <a:ln>
                  <a:noFill/>
                </a:ln>
                <a:solidFill>
                  <a:srgbClr val="FFFFFF"/>
                </a:solidFill>
                <a:effectLst/>
                <a:uLnTx/>
                <a:uFillTx/>
                <a:latin typeface="Tw Cen MT" panose="020B0602020104020603"/>
                <a:ea typeface="+mn-ea"/>
                <a:cs typeface="+mn-cs"/>
              </a:rPr>
              <a:t> Relevance</a:t>
            </a:r>
          </a:p>
          <a:p>
            <a:pPr lvl="1">
              <a:buClr>
                <a:srgbClr val="9CBEBD"/>
              </a:buClr>
              <a:buFont typeface="Wingdings" panose="05000000000000000000" pitchFamily="2" charset="2"/>
              <a:buChar char="Ø"/>
              <a:defRPr/>
            </a:pPr>
            <a:r>
              <a:rPr lang="en-GB" noProof="0" dirty="0">
                <a:solidFill>
                  <a:srgbClr val="FFFFFF"/>
                </a:solidFill>
                <a:latin typeface="Tw Cen MT" panose="020B0602020104020603"/>
              </a:rPr>
              <a:t> Visuals</a:t>
            </a:r>
          </a:p>
          <a:p>
            <a:pPr lvl="1">
              <a:buClr>
                <a:srgbClr val="9CBEBD"/>
              </a:buClr>
              <a:buFont typeface="Wingdings" panose="05000000000000000000" pitchFamily="2" charset="2"/>
              <a:buChar char="Ø"/>
              <a:defRPr/>
            </a:pPr>
            <a:r>
              <a:rPr kumimoji="0" lang="en-GB" b="0" i="0" u="none" strike="noStrike" kern="1200" cap="none" spc="0" normalizeH="0" baseline="0" noProof="0" dirty="0">
                <a:ln>
                  <a:noFill/>
                </a:ln>
                <a:solidFill>
                  <a:srgbClr val="FFFFFF"/>
                </a:solidFill>
                <a:effectLst/>
                <a:uLnTx/>
                <a:uFillTx/>
                <a:latin typeface="Tw Cen MT" panose="020B0602020104020603"/>
                <a:ea typeface="+mn-ea"/>
                <a:cs typeface="+mn-cs"/>
              </a:rPr>
              <a:t>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b="0" i="0" u="none" strike="noStrike" kern="1200" cap="none" spc="0" normalizeH="0" baseline="0" noProof="0" dirty="0">
                <a:ln>
                  <a:noFill/>
                </a:ln>
                <a:solidFill>
                  <a:srgbClr val="FFFFFF"/>
                </a:solidFill>
                <a:effectLst/>
                <a:uLnTx/>
                <a:uFillTx/>
                <a:latin typeface="Tw Cen MT" panose="020B0602020104020603"/>
                <a:ea typeface="+mn-ea"/>
                <a:cs typeface="+mn-cs"/>
              </a:rPr>
              <a:t> </a:t>
            </a: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Conclusion</a:t>
            </a:r>
            <a:endParaRPr kumimoji="0" lang="en-GB" b="0" i="0" u="none" strike="noStrike" kern="1200" cap="none" spc="0" normalizeH="0" baseline="0" noProof="0" dirty="0">
              <a:ln>
                <a:noFill/>
              </a:ln>
              <a:solidFill>
                <a:srgbClr val="FFFFFF"/>
              </a:solidFill>
              <a:effectLst/>
              <a:uLnTx/>
              <a:uFillTx/>
              <a:latin typeface="Tw Cen MT" panose="020B0602020104020603"/>
              <a:ea typeface="+mn-ea"/>
              <a:cs typeface="+mn-cs"/>
            </a:endParaRPr>
          </a:p>
          <a:p>
            <a:pPr lvl="1">
              <a:buFont typeface="Wingdings" panose="05000000000000000000" pitchFamily="2" charset="2"/>
              <a:buChar char="Ø"/>
            </a:pPr>
            <a:endParaRPr lang="en-GB" noProof="0" dirty="0"/>
          </a:p>
        </p:txBody>
      </p:sp>
    </p:spTree>
    <p:extLst>
      <p:ext uri="{BB962C8B-B14F-4D97-AF65-F5344CB8AC3E}">
        <p14:creationId xmlns:p14="http://schemas.microsoft.com/office/powerpoint/2010/main" val="95002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5BB0-4939-CE87-4ED9-CCD30DF1A1B7}"/>
              </a:ext>
            </a:extLst>
          </p:cNvPr>
          <p:cNvSpPr>
            <a:spLocks noGrp="1"/>
          </p:cNvSpPr>
          <p:nvPr>
            <p:ph type="title"/>
          </p:nvPr>
        </p:nvSpPr>
        <p:spPr/>
        <p:txBody>
          <a:bodyPr/>
          <a:lstStyle/>
          <a:p>
            <a:r>
              <a:rPr lang="en-GB" noProof="0" dirty="0"/>
              <a:t>Introduction</a:t>
            </a:r>
          </a:p>
        </p:txBody>
      </p:sp>
      <p:sp>
        <p:nvSpPr>
          <p:cNvPr id="3" name="Content Placeholder 2">
            <a:extLst>
              <a:ext uri="{FF2B5EF4-FFF2-40B4-BE49-F238E27FC236}">
                <a16:creationId xmlns:a16="http://schemas.microsoft.com/office/drawing/2014/main" id="{94F937E6-06A8-F375-06C1-E7846A2AF743}"/>
              </a:ext>
            </a:extLst>
          </p:cNvPr>
          <p:cNvSpPr>
            <a:spLocks noGrp="1"/>
          </p:cNvSpPr>
          <p:nvPr>
            <p:ph idx="1"/>
          </p:nvPr>
        </p:nvSpPr>
        <p:spPr/>
        <p:txBody>
          <a:bodyPr>
            <a:normAutofit lnSpcReduction="10000"/>
          </a:bodyPr>
          <a:lstStyle/>
          <a:p>
            <a:pPr algn="just"/>
            <a:r>
              <a:rPr lang="en-GB" noProof="0" dirty="0"/>
              <a:t>In this data-driven performance review, I analyse the sales and customer dynamics of a coffee retail business from 2019 to 2022, focusing on product performance and market fit, customer value and purchasing behaviour, loyalty program effectiveness, pricing and packaging trade-offs, and long-term sales trends and seasonality. </a:t>
            </a:r>
          </a:p>
          <a:p>
            <a:pPr algn="just"/>
            <a:r>
              <a:rPr lang="en-GB" noProof="0" dirty="0"/>
              <a:t>Specifically, I examine the following pain points: 1) sales versus volume dynamics across products and regions; 2) identify high-value customers and their purchasing patterns; 3) assess whether loyalty membership drives higher spend or purchase frequency; 4) evaluate how price points and package sies influence sales performance; and 5) discover monthly, quarterly, and year-over-year trends to highlight emerging and declining products. </a:t>
            </a:r>
          </a:p>
          <a:p>
            <a:pPr algn="just"/>
            <a:r>
              <a:rPr lang="en-GB" noProof="0" dirty="0"/>
              <a:t>This report aims to translate transactional data into actionable insights that support strategic decision-making, revenue optimisation, and sustainable business growth.</a:t>
            </a:r>
          </a:p>
        </p:txBody>
      </p:sp>
    </p:spTree>
    <p:extLst>
      <p:ext uri="{BB962C8B-B14F-4D97-AF65-F5344CB8AC3E}">
        <p14:creationId xmlns:p14="http://schemas.microsoft.com/office/powerpoint/2010/main" val="166915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A060-CAC0-4EAA-677C-E2C7EF2406EE}"/>
              </a:ext>
            </a:extLst>
          </p:cNvPr>
          <p:cNvSpPr>
            <a:spLocks noGrp="1"/>
          </p:cNvSpPr>
          <p:nvPr>
            <p:ph type="title"/>
          </p:nvPr>
        </p:nvSpPr>
        <p:spPr/>
        <p:txBody>
          <a:bodyPr/>
          <a:lstStyle/>
          <a:p>
            <a:r>
              <a:rPr lang="en-GB" noProof="0" dirty="0"/>
              <a:t>Analytical Focus &amp; Key Business Questions</a:t>
            </a:r>
          </a:p>
        </p:txBody>
      </p:sp>
      <p:sp>
        <p:nvSpPr>
          <p:cNvPr id="3" name="Content Placeholder 2">
            <a:extLst>
              <a:ext uri="{FF2B5EF4-FFF2-40B4-BE49-F238E27FC236}">
                <a16:creationId xmlns:a16="http://schemas.microsoft.com/office/drawing/2014/main" id="{FA2C5CFF-2554-64F1-D3DE-14B6CD36E8E1}"/>
              </a:ext>
            </a:extLst>
          </p:cNvPr>
          <p:cNvSpPr>
            <a:spLocks noGrp="1"/>
          </p:cNvSpPr>
          <p:nvPr>
            <p:ph idx="1"/>
          </p:nvPr>
        </p:nvSpPr>
        <p:spPr/>
        <p:txBody>
          <a:bodyPr/>
          <a:lstStyle/>
          <a:p>
            <a:pPr algn="just">
              <a:buFont typeface="+mj-lt"/>
              <a:buAutoNum type="arabicPeriod"/>
            </a:pPr>
            <a:r>
              <a:rPr lang="en-GB" b="1" noProof="0" dirty="0"/>
              <a:t>Product Performance &amp; Market Fit </a:t>
            </a:r>
            <a:r>
              <a:rPr lang="en-GB" noProof="0" dirty="0"/>
              <a:t>- Which coffee products generate the most revenue and volume? How does this vary across countries?</a:t>
            </a:r>
          </a:p>
          <a:p>
            <a:pPr algn="just">
              <a:buFont typeface="+mj-lt"/>
              <a:buAutoNum type="arabicPeriod"/>
            </a:pPr>
            <a:r>
              <a:rPr lang="en-GB" b="1" noProof="0" dirty="0"/>
              <a:t>Customer Value &amp; Purchasing Behaviour </a:t>
            </a:r>
            <a:r>
              <a:rPr lang="en-GB" noProof="0" dirty="0"/>
              <a:t>- Who are the most valuable customers, and what purchasing patterns distinguish them?</a:t>
            </a:r>
          </a:p>
          <a:p>
            <a:pPr algn="just">
              <a:buFont typeface="+mj-lt"/>
              <a:buAutoNum type="arabicPeriod"/>
            </a:pPr>
            <a:r>
              <a:rPr lang="en-GB" b="1" noProof="0" dirty="0"/>
              <a:t>Loyalty Program Effectiveness </a:t>
            </a:r>
            <a:r>
              <a:rPr lang="en-GB" noProof="0" dirty="0"/>
              <a:t>- Does the loyalty card program meaningfully increase customer spend or purchase frequency?</a:t>
            </a:r>
          </a:p>
          <a:p>
            <a:pPr algn="just">
              <a:buFont typeface="+mj-lt"/>
              <a:buAutoNum type="arabicPeriod"/>
            </a:pPr>
            <a:r>
              <a:rPr lang="en-GB" b="1" noProof="0" dirty="0"/>
              <a:t>Pricing, Packaging &amp; Revenue Optimisation </a:t>
            </a:r>
            <a:r>
              <a:rPr lang="en-GB" noProof="0" dirty="0"/>
              <a:t>- How do pricing, package size, and unit combinations influence sales performance?</a:t>
            </a:r>
          </a:p>
          <a:p>
            <a:pPr algn="just">
              <a:buFont typeface="+mj-lt"/>
              <a:buAutoNum type="arabicPeriod"/>
            </a:pPr>
            <a:r>
              <a:rPr lang="en-GB" b="1" noProof="0" dirty="0"/>
              <a:t>Sales Trends, Growth &amp; Seasonality </a:t>
            </a:r>
            <a:r>
              <a:rPr lang="en-GB" noProof="0" dirty="0"/>
              <a:t>- What are the key sales trends over time, and are there any seasonal patterns?</a:t>
            </a:r>
          </a:p>
          <a:p>
            <a:endParaRPr lang="en-GB" noProof="0" dirty="0"/>
          </a:p>
        </p:txBody>
      </p:sp>
    </p:spTree>
    <p:extLst>
      <p:ext uri="{BB962C8B-B14F-4D97-AF65-F5344CB8AC3E}">
        <p14:creationId xmlns:p14="http://schemas.microsoft.com/office/powerpoint/2010/main" val="55792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AA5A-2240-9511-CA83-FF723090B1CC}"/>
              </a:ext>
            </a:extLst>
          </p:cNvPr>
          <p:cNvSpPr>
            <a:spLocks noGrp="1"/>
          </p:cNvSpPr>
          <p:nvPr>
            <p:ph type="title"/>
          </p:nvPr>
        </p:nvSpPr>
        <p:spPr/>
        <p:txBody>
          <a:bodyPr/>
          <a:lstStyle/>
          <a:p>
            <a:r>
              <a:rPr lang="en-GB" noProof="0" dirty="0"/>
              <a:t>High-Volume vs. High-Value Coffees by Country – Significance </a:t>
            </a:r>
          </a:p>
        </p:txBody>
      </p:sp>
      <p:sp>
        <p:nvSpPr>
          <p:cNvPr id="3" name="Content Placeholder 2">
            <a:extLst>
              <a:ext uri="{FF2B5EF4-FFF2-40B4-BE49-F238E27FC236}">
                <a16:creationId xmlns:a16="http://schemas.microsoft.com/office/drawing/2014/main" id="{D8E03029-A2D3-A32A-9F9C-BB520DAC1AE6}"/>
              </a:ext>
            </a:extLst>
          </p:cNvPr>
          <p:cNvSpPr>
            <a:spLocks noGrp="1"/>
          </p:cNvSpPr>
          <p:nvPr>
            <p:ph idx="1"/>
          </p:nvPr>
        </p:nvSpPr>
        <p:spPr/>
        <p:txBody>
          <a:bodyPr/>
          <a:lstStyle/>
          <a:p>
            <a:pPr marL="0" indent="0" algn="just">
              <a:buNone/>
            </a:pPr>
            <a:r>
              <a:rPr lang="en-GB" noProof="0" dirty="0"/>
              <a:t>Understanding which coffee products drive the most revenue and volume, and how these patterns vary by country, is essential for optimizing product strategy, pricing, and market positioning. This analysis enables the coffee retail business to identify high-performing products, discover regional taste preferences, and tailor assortments to local demand, rather than relying on a uniform global approach. By aligning product mix, inventory allocation, and marketing investments with country-specific consumption patterns, the business can improve sell-through rates, enhance customer satisfaction, and maximize both revenue and profitability across markets.</a:t>
            </a:r>
          </a:p>
        </p:txBody>
      </p:sp>
    </p:spTree>
    <p:extLst>
      <p:ext uri="{BB962C8B-B14F-4D97-AF65-F5344CB8AC3E}">
        <p14:creationId xmlns:p14="http://schemas.microsoft.com/office/powerpoint/2010/main" val="643031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25F95-A645-223C-5F47-E1B21D50086B}"/>
              </a:ext>
            </a:extLst>
          </p:cNvPr>
          <p:cNvSpPr>
            <a:spLocks noGrp="1"/>
          </p:cNvSpPr>
          <p:nvPr>
            <p:ph type="title"/>
          </p:nvPr>
        </p:nvSpPr>
        <p:spPr/>
        <p:txBody>
          <a:bodyPr/>
          <a:lstStyle/>
          <a:p>
            <a:r>
              <a:rPr lang="en-GB" noProof="0" dirty="0"/>
              <a:t>High-Volume vs. High-Value Coffees by Country - Visualisations</a:t>
            </a:r>
          </a:p>
        </p:txBody>
      </p:sp>
      <p:graphicFrame>
        <p:nvGraphicFramePr>
          <p:cNvPr id="13" name="TopQuantity">
            <a:extLst>
              <a:ext uri="{FF2B5EF4-FFF2-40B4-BE49-F238E27FC236}">
                <a16:creationId xmlns:a16="http://schemas.microsoft.com/office/drawing/2014/main" id="{81077410-B530-4867-ACF4-F1BC4C208228}"/>
              </a:ext>
            </a:extLst>
          </p:cNvPr>
          <p:cNvGraphicFramePr>
            <a:graphicFrameLocks/>
          </p:cNvGraphicFramePr>
          <p:nvPr>
            <p:extLst>
              <p:ext uri="{D42A27DB-BD31-4B8C-83A1-F6EECF244321}">
                <p14:modId xmlns:p14="http://schemas.microsoft.com/office/powerpoint/2010/main" val="1779433719"/>
              </p:ext>
            </p:extLst>
          </p:nvPr>
        </p:nvGraphicFramePr>
        <p:xfrm>
          <a:off x="6587956" y="2084831"/>
          <a:ext cx="5367109" cy="2143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TopSales">
            <a:extLst>
              <a:ext uri="{FF2B5EF4-FFF2-40B4-BE49-F238E27FC236}">
                <a16:creationId xmlns:a16="http://schemas.microsoft.com/office/drawing/2014/main" id="{3984D2F0-AA77-45C4-8F48-51F9B21E38A5}"/>
              </a:ext>
            </a:extLst>
          </p:cNvPr>
          <p:cNvGraphicFramePr>
            <a:graphicFrameLocks/>
          </p:cNvGraphicFramePr>
          <p:nvPr>
            <p:extLst>
              <p:ext uri="{D42A27DB-BD31-4B8C-83A1-F6EECF244321}">
                <p14:modId xmlns:p14="http://schemas.microsoft.com/office/powerpoint/2010/main" val="649715669"/>
              </p:ext>
            </p:extLst>
          </p:nvPr>
        </p:nvGraphicFramePr>
        <p:xfrm>
          <a:off x="6587957" y="4334559"/>
          <a:ext cx="5367109" cy="23734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SalesVSQuantity">
            <a:extLst>
              <a:ext uri="{FF2B5EF4-FFF2-40B4-BE49-F238E27FC236}">
                <a16:creationId xmlns:a16="http://schemas.microsoft.com/office/drawing/2014/main" id="{C38604AE-3D2D-40F6-9A12-D1A9EA491300}"/>
              </a:ext>
            </a:extLst>
          </p:cNvPr>
          <p:cNvGraphicFramePr>
            <a:graphicFrameLocks/>
          </p:cNvGraphicFramePr>
          <p:nvPr>
            <p:extLst>
              <p:ext uri="{D42A27DB-BD31-4B8C-83A1-F6EECF244321}">
                <p14:modId xmlns:p14="http://schemas.microsoft.com/office/powerpoint/2010/main" val="1508597847"/>
              </p:ext>
            </p:extLst>
          </p:nvPr>
        </p:nvGraphicFramePr>
        <p:xfrm>
          <a:off x="1024128" y="2084831"/>
          <a:ext cx="5397113" cy="46232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76080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F701A-4E87-E221-F132-3A511A4E2CBB}"/>
              </a:ext>
            </a:extLst>
          </p:cNvPr>
          <p:cNvSpPr>
            <a:spLocks noGrp="1"/>
          </p:cNvSpPr>
          <p:nvPr>
            <p:ph type="title"/>
          </p:nvPr>
        </p:nvSpPr>
        <p:spPr/>
        <p:txBody>
          <a:bodyPr/>
          <a:lstStyle/>
          <a:p>
            <a:r>
              <a:rPr lang="en-GB" noProof="0" dirty="0"/>
              <a:t>High-Volume vs. High-Value Coffees by Country – INTERPRETATION (1)</a:t>
            </a:r>
          </a:p>
        </p:txBody>
      </p:sp>
      <p:sp>
        <p:nvSpPr>
          <p:cNvPr id="3" name="Content Placeholder 2">
            <a:extLst>
              <a:ext uri="{FF2B5EF4-FFF2-40B4-BE49-F238E27FC236}">
                <a16:creationId xmlns:a16="http://schemas.microsoft.com/office/drawing/2014/main" id="{3A10E8E1-509B-A716-E0C2-C8DAF6EBAAB7}"/>
              </a:ext>
            </a:extLst>
          </p:cNvPr>
          <p:cNvSpPr>
            <a:spLocks noGrp="1"/>
          </p:cNvSpPr>
          <p:nvPr>
            <p:ph idx="1"/>
          </p:nvPr>
        </p:nvSpPr>
        <p:spPr/>
        <p:txBody>
          <a:bodyPr>
            <a:normAutofit lnSpcReduction="10000"/>
          </a:bodyPr>
          <a:lstStyle/>
          <a:p>
            <a:pPr marL="0" indent="0" algn="just">
              <a:buNone/>
            </a:pPr>
            <a:r>
              <a:rPr lang="en-GB" noProof="0" dirty="0"/>
              <a:t>Analysis Report:</a:t>
            </a:r>
          </a:p>
          <a:p>
            <a:pPr marL="0" indent="0" algn="just">
              <a:buNone/>
            </a:pPr>
            <a:r>
              <a:rPr lang="en-GB" noProof="0" dirty="0"/>
              <a:t>The dashboard indicates a strong concentration of revenue and volume within a small subset of products and coffee types, reinforcing a clear Pareto effect. The top coffee categories account for most of the total sales, with leading products individually contributing ~30–40% of category revenue in several markets. Premium and specialty coffees generate higher revenue per unit (up to 1.3–1.6× higher pricing) compared to standard ones, while mainstream products drive higher unit volumes. </a:t>
            </a:r>
          </a:p>
          <a:p>
            <a:pPr marL="0" indent="0" algn="just">
              <a:buNone/>
            </a:pPr>
            <a:r>
              <a:rPr lang="en-GB" noProof="0" dirty="0"/>
              <a:t>Country-level comparisons show meaningful divergence: in some markets, a single coffee type contributes over 50% of total volume, while in others, revenue is more evenly distributed across multiple products. This pattern suggests that demand is not only product-driven but also structurally shaped by local market preferences, price sensitivity, and consumption habits, creating different revenue and volume profiles by country.</a:t>
            </a:r>
          </a:p>
        </p:txBody>
      </p:sp>
    </p:spTree>
    <p:extLst>
      <p:ext uri="{BB962C8B-B14F-4D97-AF65-F5344CB8AC3E}">
        <p14:creationId xmlns:p14="http://schemas.microsoft.com/office/powerpoint/2010/main" val="3093312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3320-6E3A-1D98-43CE-C4DE5D3301FB}"/>
              </a:ext>
            </a:extLst>
          </p:cNvPr>
          <p:cNvSpPr>
            <a:spLocks noGrp="1"/>
          </p:cNvSpPr>
          <p:nvPr>
            <p:ph type="title"/>
          </p:nvPr>
        </p:nvSpPr>
        <p:spPr/>
        <p:txBody>
          <a:bodyPr/>
          <a:lstStyle/>
          <a:p>
            <a:r>
              <a:rPr lang="en-GB" noProof="0" dirty="0"/>
              <a:t>High-Volume vs. High-Value Coffees by Country – INTERPRETATION (2)</a:t>
            </a:r>
          </a:p>
        </p:txBody>
      </p:sp>
      <p:sp>
        <p:nvSpPr>
          <p:cNvPr id="3" name="Content Placeholder 2">
            <a:extLst>
              <a:ext uri="{FF2B5EF4-FFF2-40B4-BE49-F238E27FC236}">
                <a16:creationId xmlns:a16="http://schemas.microsoft.com/office/drawing/2014/main" id="{2B175A34-A463-9F1D-24D4-0E74541F45CD}"/>
              </a:ext>
            </a:extLst>
          </p:cNvPr>
          <p:cNvSpPr>
            <a:spLocks noGrp="1"/>
          </p:cNvSpPr>
          <p:nvPr>
            <p:ph idx="1"/>
          </p:nvPr>
        </p:nvSpPr>
        <p:spPr/>
        <p:txBody>
          <a:bodyPr>
            <a:normAutofit fontScale="92500" lnSpcReduction="20000"/>
          </a:bodyPr>
          <a:lstStyle/>
          <a:p>
            <a:pPr marL="0" indent="0" algn="just">
              <a:buNone/>
            </a:pPr>
            <a:r>
              <a:rPr lang="en-GB" noProof="0" dirty="0"/>
              <a:t>Key Insights:</a:t>
            </a:r>
          </a:p>
          <a:p>
            <a:pPr algn="just">
              <a:buFont typeface="Wingdings" panose="05000000000000000000" pitchFamily="2" charset="2"/>
              <a:buChar char="Ø"/>
            </a:pPr>
            <a:r>
              <a:rPr lang="en-GB" noProof="0" dirty="0"/>
              <a:t> Mainstream coffees drive the highest unit volumes but generate 30–40% lower revenue per unit compared to premium and specialty ones. In contrast, premium coffee types deliver 1.3–1.6× higher revenue per unit, confirming that volume leadership does not translate directly into revenue leadership.</a:t>
            </a:r>
          </a:p>
          <a:p>
            <a:pPr algn="just">
              <a:buFont typeface="Wingdings" panose="05000000000000000000" pitchFamily="2" charset="2"/>
              <a:buChar char="Ø"/>
            </a:pPr>
            <a:r>
              <a:rPr lang="en-GB" noProof="0" dirty="0"/>
              <a:t> A small subset of products accounts for most of the revenue, with leading products contributing ~30–40% of category revenue in several markets. This indicates a moderate reliance on a narrow product mix, increasing exposure to demand or supply-side volatility.</a:t>
            </a:r>
          </a:p>
          <a:p>
            <a:pPr algn="just">
              <a:buFont typeface="Wingdings" panose="05000000000000000000" pitchFamily="2" charset="2"/>
              <a:buChar char="Ø"/>
            </a:pPr>
            <a:r>
              <a:rPr lang="en-GB" noProof="0" dirty="0"/>
              <a:t> High-volume, low-revenue products represent the largest opportunity for margin expansion, as selectively shifting customers toward premium coffee or higher-value pack sizes could lift revenue per unit by 30–60% without requiring incremental volume growth.</a:t>
            </a:r>
          </a:p>
          <a:p>
            <a:pPr algn="just">
              <a:buFont typeface="Wingdings" panose="05000000000000000000" pitchFamily="2" charset="2"/>
              <a:buChar char="Ø"/>
            </a:pPr>
            <a:r>
              <a:rPr lang="en-GB" noProof="0" dirty="0"/>
              <a:t> Country-level patterns show up to 50%+ volume concentration in a single coffee type in some markets, while others display more balanced product distribution across categories. This confirms that localized product, pricing, and marketing strategies can improve performance versus standardised global approaches.</a:t>
            </a:r>
          </a:p>
        </p:txBody>
      </p:sp>
    </p:spTree>
    <p:extLst>
      <p:ext uri="{BB962C8B-B14F-4D97-AF65-F5344CB8AC3E}">
        <p14:creationId xmlns:p14="http://schemas.microsoft.com/office/powerpoint/2010/main" val="310518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0737-0102-4F4D-FDE7-4D5A01401F10}"/>
              </a:ext>
            </a:extLst>
          </p:cNvPr>
          <p:cNvSpPr>
            <a:spLocks noGrp="1"/>
          </p:cNvSpPr>
          <p:nvPr>
            <p:ph type="title"/>
          </p:nvPr>
        </p:nvSpPr>
        <p:spPr/>
        <p:txBody>
          <a:bodyPr/>
          <a:lstStyle/>
          <a:p>
            <a:r>
              <a:rPr lang="en-GB" noProof="0" dirty="0"/>
              <a:t>High-Volume vs. High-Value Coffees by Country – INTERPRETATION (3)</a:t>
            </a:r>
          </a:p>
        </p:txBody>
      </p:sp>
      <p:sp>
        <p:nvSpPr>
          <p:cNvPr id="3" name="Content Placeholder 2">
            <a:extLst>
              <a:ext uri="{FF2B5EF4-FFF2-40B4-BE49-F238E27FC236}">
                <a16:creationId xmlns:a16="http://schemas.microsoft.com/office/drawing/2014/main" id="{FDC6BE1A-10F1-5D31-59F8-22F034067254}"/>
              </a:ext>
            </a:extLst>
          </p:cNvPr>
          <p:cNvSpPr>
            <a:spLocks noGrp="1"/>
          </p:cNvSpPr>
          <p:nvPr>
            <p:ph idx="1"/>
          </p:nvPr>
        </p:nvSpPr>
        <p:spPr/>
        <p:txBody>
          <a:bodyPr/>
          <a:lstStyle/>
          <a:p>
            <a:pPr marL="0" indent="0" algn="just">
              <a:buNone/>
            </a:pPr>
            <a:r>
              <a:rPr lang="en-GB" noProof="0" dirty="0"/>
              <a:t>Business Implications:</a:t>
            </a:r>
          </a:p>
          <a:p>
            <a:pPr algn="just">
              <a:buFont typeface="Wingdings" panose="05000000000000000000" pitchFamily="2" charset="2"/>
              <a:buChar char="Ø"/>
            </a:pPr>
            <a:r>
              <a:rPr lang="en-GB" noProof="0" dirty="0"/>
              <a:t> Revenue growth should prioritise value, not just volume.</a:t>
            </a:r>
          </a:p>
          <a:p>
            <a:pPr algn="just">
              <a:buFont typeface="Wingdings" panose="05000000000000000000" pitchFamily="2" charset="2"/>
              <a:buChar char="Ø"/>
            </a:pPr>
            <a:r>
              <a:rPr lang="en-GB" noProof="0" dirty="0"/>
              <a:t> Strategic focus should shift toward expanding high-value product lines, while repositioning high-volume, low-revenue SKU across different countries to improve profitability.</a:t>
            </a:r>
          </a:p>
          <a:p>
            <a:pPr algn="just">
              <a:buFont typeface="Wingdings" panose="05000000000000000000" pitchFamily="2" charset="2"/>
              <a:buChar char="Ø"/>
            </a:pPr>
            <a:r>
              <a:rPr lang="en-GB" noProof="0" dirty="0"/>
              <a:t> Targeted pricing strategies can unlock incremental revenue without relying solely on increasing sales volume.</a:t>
            </a:r>
          </a:p>
          <a:p>
            <a:endParaRPr lang="en-GB" noProof="0" dirty="0"/>
          </a:p>
        </p:txBody>
      </p:sp>
    </p:spTree>
    <p:extLst>
      <p:ext uri="{BB962C8B-B14F-4D97-AF65-F5344CB8AC3E}">
        <p14:creationId xmlns:p14="http://schemas.microsoft.com/office/powerpoint/2010/main" val="3545657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8B856-E942-5ECF-F485-8591B161B234}"/>
              </a:ext>
            </a:extLst>
          </p:cNvPr>
          <p:cNvSpPr>
            <a:spLocks noGrp="1"/>
          </p:cNvSpPr>
          <p:nvPr>
            <p:ph type="title"/>
          </p:nvPr>
        </p:nvSpPr>
        <p:spPr/>
        <p:txBody>
          <a:bodyPr/>
          <a:lstStyle/>
          <a:p>
            <a:r>
              <a:rPr lang="en-GB" noProof="0" dirty="0"/>
              <a:t>High-Volume vs. High-Value Coffees by Country – INTERPRETATION (4)</a:t>
            </a:r>
          </a:p>
        </p:txBody>
      </p:sp>
      <p:sp>
        <p:nvSpPr>
          <p:cNvPr id="3" name="Content Placeholder 2">
            <a:extLst>
              <a:ext uri="{FF2B5EF4-FFF2-40B4-BE49-F238E27FC236}">
                <a16:creationId xmlns:a16="http://schemas.microsoft.com/office/drawing/2014/main" id="{686B05AA-A9C4-B480-5875-149BB596BE14}"/>
              </a:ext>
            </a:extLst>
          </p:cNvPr>
          <p:cNvSpPr>
            <a:spLocks noGrp="1"/>
          </p:cNvSpPr>
          <p:nvPr>
            <p:ph idx="1"/>
          </p:nvPr>
        </p:nvSpPr>
        <p:spPr/>
        <p:txBody>
          <a:bodyPr>
            <a:normAutofit/>
          </a:bodyPr>
          <a:lstStyle/>
          <a:p>
            <a:pPr marL="0" indent="0" algn="just">
              <a:buNone/>
            </a:pPr>
            <a:r>
              <a:rPr lang="en-GB" noProof="0" dirty="0"/>
              <a:t>Recommended Strategic Actions:</a:t>
            </a:r>
          </a:p>
          <a:p>
            <a:pPr>
              <a:buFont typeface="Wingdings" panose="05000000000000000000" pitchFamily="2" charset="2"/>
              <a:buChar char="Ø"/>
            </a:pPr>
            <a:r>
              <a:rPr lang="en-GB" noProof="0" dirty="0"/>
              <a:t> Reassess pricing strategy for high-volume SKU</a:t>
            </a:r>
          </a:p>
          <a:p>
            <a:pPr>
              <a:buFont typeface="Wingdings" panose="05000000000000000000" pitchFamily="2" charset="2"/>
              <a:buChar char="Ø"/>
            </a:pPr>
            <a:r>
              <a:rPr lang="en-GB" noProof="0" dirty="0"/>
              <a:t> Promote higher-margin products</a:t>
            </a:r>
          </a:p>
          <a:p>
            <a:pPr>
              <a:buFont typeface="Wingdings" panose="05000000000000000000" pitchFamily="2" charset="2"/>
              <a:buChar char="Ø"/>
            </a:pPr>
            <a:r>
              <a:rPr lang="en-GB" noProof="0" dirty="0"/>
              <a:t> Introduce bundle offers or upsell pathways</a:t>
            </a:r>
          </a:p>
          <a:p>
            <a:pPr>
              <a:buFont typeface="Wingdings" panose="05000000000000000000" pitchFamily="2" charset="2"/>
              <a:buChar char="Ø"/>
            </a:pPr>
            <a:r>
              <a:rPr lang="en-GB" noProof="0" dirty="0"/>
              <a:t> Localise product mix by country to reflect regional demand patterns</a:t>
            </a:r>
          </a:p>
          <a:p>
            <a:pPr marL="0" indent="0">
              <a:buNone/>
            </a:pPr>
            <a:endParaRPr lang="en-GB" noProof="0" dirty="0"/>
          </a:p>
        </p:txBody>
      </p:sp>
    </p:spTree>
    <p:extLst>
      <p:ext uri="{BB962C8B-B14F-4D97-AF65-F5344CB8AC3E}">
        <p14:creationId xmlns:p14="http://schemas.microsoft.com/office/powerpoint/2010/main" val="3450767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E8C28-1D17-207D-FE29-71307F02157C}"/>
              </a:ext>
            </a:extLst>
          </p:cNvPr>
          <p:cNvSpPr>
            <a:spLocks noGrp="1"/>
          </p:cNvSpPr>
          <p:nvPr>
            <p:ph type="title"/>
          </p:nvPr>
        </p:nvSpPr>
        <p:spPr/>
        <p:txBody>
          <a:bodyPr/>
          <a:lstStyle/>
          <a:p>
            <a:r>
              <a:rPr lang="en-GB" noProof="0" dirty="0"/>
              <a:t>Investigating Top Customers’ Buying Behaviour - Relevance</a:t>
            </a:r>
          </a:p>
        </p:txBody>
      </p:sp>
      <p:sp>
        <p:nvSpPr>
          <p:cNvPr id="3" name="Content Placeholder 2">
            <a:extLst>
              <a:ext uri="{FF2B5EF4-FFF2-40B4-BE49-F238E27FC236}">
                <a16:creationId xmlns:a16="http://schemas.microsoft.com/office/drawing/2014/main" id="{8C081419-2574-E626-CB2B-00F7DC7C6A80}"/>
              </a:ext>
            </a:extLst>
          </p:cNvPr>
          <p:cNvSpPr>
            <a:spLocks noGrp="1"/>
          </p:cNvSpPr>
          <p:nvPr>
            <p:ph idx="1"/>
          </p:nvPr>
        </p:nvSpPr>
        <p:spPr/>
        <p:txBody>
          <a:bodyPr/>
          <a:lstStyle/>
          <a:p>
            <a:pPr algn="just"/>
            <a:r>
              <a:rPr lang="en-GB" noProof="0" dirty="0"/>
              <a:t>Understanding who the most valuable customers are and how their purchasing behaviour differs is critical for driving profitable growth and strengthening customer loyalty. By identifying high-value customers based on spending, order frequency, and product preferences, the coffee retail business can tailor marketing strategies, promotions, and loyalty programs to maximise lifetime value rather than focusing solely on volume. This analysis enables effective segmentation, more targeted campaigns, and better product recommendations, ultimately improving retention, increasing basket size, and ensuring that resources are invested in customers who generate the greatest long-term return.</a:t>
            </a:r>
          </a:p>
        </p:txBody>
      </p:sp>
    </p:spTree>
    <p:extLst>
      <p:ext uri="{BB962C8B-B14F-4D97-AF65-F5344CB8AC3E}">
        <p14:creationId xmlns:p14="http://schemas.microsoft.com/office/powerpoint/2010/main" val="101736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3016-7B29-67CF-9DED-794FFEB22D73}"/>
              </a:ext>
            </a:extLst>
          </p:cNvPr>
          <p:cNvSpPr>
            <a:spLocks noGrp="1"/>
          </p:cNvSpPr>
          <p:nvPr>
            <p:ph type="title"/>
          </p:nvPr>
        </p:nvSpPr>
        <p:spPr>
          <a:xfrm>
            <a:off x="1024128" y="0"/>
            <a:ext cx="9720072" cy="1499616"/>
          </a:xfrm>
        </p:spPr>
        <p:txBody>
          <a:bodyPr/>
          <a:lstStyle/>
          <a:p>
            <a:r>
              <a:rPr lang="en-GB" noProof="0" dirty="0"/>
              <a:t>Investigating Top Customers’ Buying Behaviour - Visualisations</a:t>
            </a:r>
          </a:p>
        </p:txBody>
      </p:sp>
      <p:graphicFrame>
        <p:nvGraphicFramePr>
          <p:cNvPr id="5" name="Chart 4">
            <a:extLst>
              <a:ext uri="{FF2B5EF4-FFF2-40B4-BE49-F238E27FC236}">
                <a16:creationId xmlns:a16="http://schemas.microsoft.com/office/drawing/2014/main" id="{D6E7BD99-7CA9-46C7-ADE9-59BC4C049460}"/>
              </a:ext>
            </a:extLst>
          </p:cNvPr>
          <p:cNvGraphicFramePr>
            <a:graphicFrameLocks/>
          </p:cNvGraphicFramePr>
          <p:nvPr>
            <p:extLst>
              <p:ext uri="{D42A27DB-BD31-4B8C-83A1-F6EECF244321}">
                <p14:modId xmlns:p14="http://schemas.microsoft.com/office/powerpoint/2010/main" val="2118488922"/>
              </p:ext>
            </p:extLst>
          </p:nvPr>
        </p:nvGraphicFramePr>
        <p:xfrm>
          <a:off x="1024127" y="1499616"/>
          <a:ext cx="5337853" cy="30420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28D58321-139E-449A-B758-6ECCAF0D2098}"/>
              </a:ext>
            </a:extLst>
          </p:cNvPr>
          <p:cNvGraphicFramePr>
            <a:graphicFrameLocks/>
          </p:cNvGraphicFramePr>
          <p:nvPr>
            <p:extLst>
              <p:ext uri="{D42A27DB-BD31-4B8C-83A1-F6EECF244321}">
                <p14:modId xmlns:p14="http://schemas.microsoft.com/office/powerpoint/2010/main" val="4269853271"/>
              </p:ext>
            </p:extLst>
          </p:nvPr>
        </p:nvGraphicFramePr>
        <p:xfrm>
          <a:off x="1024128" y="4678091"/>
          <a:ext cx="5337853" cy="21799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4A1704FB-6F63-427E-9C62-732924776B0C}"/>
              </a:ext>
            </a:extLst>
          </p:cNvPr>
          <p:cNvGraphicFramePr>
            <a:graphicFrameLocks/>
          </p:cNvGraphicFramePr>
          <p:nvPr>
            <p:extLst>
              <p:ext uri="{D42A27DB-BD31-4B8C-83A1-F6EECF244321}">
                <p14:modId xmlns:p14="http://schemas.microsoft.com/office/powerpoint/2010/main" val="39126570"/>
              </p:ext>
            </p:extLst>
          </p:nvPr>
        </p:nvGraphicFramePr>
        <p:xfrm>
          <a:off x="6576295" y="4678091"/>
          <a:ext cx="5265438" cy="21799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BD33AA7A-E7B8-495D-903D-CAE47E91B4E2}"/>
              </a:ext>
            </a:extLst>
          </p:cNvPr>
          <p:cNvGraphicFramePr>
            <a:graphicFrameLocks/>
          </p:cNvGraphicFramePr>
          <p:nvPr>
            <p:extLst>
              <p:ext uri="{D42A27DB-BD31-4B8C-83A1-F6EECF244321}">
                <p14:modId xmlns:p14="http://schemas.microsoft.com/office/powerpoint/2010/main" val="4056950831"/>
              </p:ext>
            </p:extLst>
          </p:nvPr>
        </p:nvGraphicFramePr>
        <p:xfrm>
          <a:off x="6576295" y="1499616"/>
          <a:ext cx="5265438" cy="304207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01373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2B05-A6A5-33E2-0D0A-5F8E116687E9}"/>
              </a:ext>
            </a:extLst>
          </p:cNvPr>
          <p:cNvSpPr>
            <a:spLocks noGrp="1"/>
          </p:cNvSpPr>
          <p:nvPr>
            <p:ph type="title"/>
          </p:nvPr>
        </p:nvSpPr>
        <p:spPr/>
        <p:txBody>
          <a:bodyPr/>
          <a:lstStyle/>
          <a:p>
            <a:r>
              <a:rPr lang="en-GB" noProof="0" dirty="0"/>
              <a:t>Investigating Top Customers’ Buying Behaviour - INTERPRTATION (1)</a:t>
            </a:r>
          </a:p>
        </p:txBody>
      </p:sp>
      <p:sp>
        <p:nvSpPr>
          <p:cNvPr id="3" name="Content Placeholder 2">
            <a:extLst>
              <a:ext uri="{FF2B5EF4-FFF2-40B4-BE49-F238E27FC236}">
                <a16:creationId xmlns:a16="http://schemas.microsoft.com/office/drawing/2014/main" id="{C021D765-3167-3D8D-382D-9D66D7709005}"/>
              </a:ext>
            </a:extLst>
          </p:cNvPr>
          <p:cNvSpPr>
            <a:spLocks noGrp="1"/>
          </p:cNvSpPr>
          <p:nvPr>
            <p:ph idx="1"/>
          </p:nvPr>
        </p:nvSpPr>
        <p:spPr/>
        <p:txBody>
          <a:bodyPr>
            <a:normAutofit fontScale="85000" lnSpcReduction="20000"/>
          </a:bodyPr>
          <a:lstStyle/>
          <a:p>
            <a:pPr marL="0" indent="0" algn="just">
              <a:buNone/>
            </a:pPr>
            <a:r>
              <a:rPr lang="en-GB" noProof="0" dirty="0"/>
              <a:t>Analysis Report:</a:t>
            </a:r>
          </a:p>
          <a:p>
            <a:pPr marL="0" indent="0" algn="just">
              <a:buNone/>
            </a:pPr>
            <a:r>
              <a:rPr lang="en-GB" noProof="0" dirty="0"/>
              <a:t>This dashboard reveals a highly skewed customer value distribution, where a small segment of customers generates a disproportionately large share of revenue. High-value customers place larger orders (average order value ≈ $56) compared to medium-value (~$38) and low-value (~$45) customers, while also maintaining higher purchase frequency, creating a strong compounding effect on revenue.</a:t>
            </a:r>
          </a:p>
          <a:p>
            <a:pPr marL="0" indent="0" algn="just">
              <a:buNone/>
            </a:pPr>
            <a:r>
              <a:rPr lang="en-GB" noProof="0" dirty="0"/>
              <a:t>At the same time, the frequency distribution shows that over 90% of customers purchase fewer than two times, highlighting a major opportunity to improve retention and repeat purchasing behaviours. Increasing visit frequency among these low-engagement customers could unlock significant incremental revenue without relying solely on customer acquisition.</a:t>
            </a:r>
          </a:p>
          <a:p>
            <a:pPr marL="0" indent="0" algn="just">
              <a:buNone/>
            </a:pPr>
            <a:r>
              <a:rPr lang="en-GB" noProof="0" dirty="0"/>
              <a:t>Product preferences further indicate that high-value customers strongly favour premium pack sizes (2.5 kg) and darker roasts, particularly </a:t>
            </a:r>
            <a:r>
              <a:rPr lang="en-GB" noProof="0" dirty="0" err="1"/>
              <a:t>Liberica</a:t>
            </a:r>
            <a:r>
              <a:rPr lang="en-GB" noProof="0" dirty="0"/>
              <a:t> (≈ $149 in sales from 2.5 kg packs), compared to smaller pack sizes that generate significantly lower revenue. These patterns suggest that targeted loyalty programs, premium product bundling, and personalized promotions could effectively convert low-frequency customers into repeat buyers and substantially increase overall revenue and customer lifetime value.</a:t>
            </a:r>
          </a:p>
        </p:txBody>
      </p:sp>
    </p:spTree>
    <p:extLst>
      <p:ext uri="{BB962C8B-B14F-4D97-AF65-F5344CB8AC3E}">
        <p14:creationId xmlns:p14="http://schemas.microsoft.com/office/powerpoint/2010/main" val="1493118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0349-0DDD-9A81-48F1-5FF1A7E7E626}"/>
              </a:ext>
            </a:extLst>
          </p:cNvPr>
          <p:cNvSpPr>
            <a:spLocks noGrp="1"/>
          </p:cNvSpPr>
          <p:nvPr>
            <p:ph type="title"/>
          </p:nvPr>
        </p:nvSpPr>
        <p:spPr/>
        <p:txBody>
          <a:bodyPr/>
          <a:lstStyle/>
          <a:p>
            <a:r>
              <a:rPr lang="en-GB" noProof="0" dirty="0"/>
              <a:t>Investigating Top Customers’ Buying Behaviour - INTERPRTATION (2)</a:t>
            </a:r>
          </a:p>
        </p:txBody>
      </p:sp>
      <p:sp>
        <p:nvSpPr>
          <p:cNvPr id="3" name="Content Placeholder 2">
            <a:extLst>
              <a:ext uri="{FF2B5EF4-FFF2-40B4-BE49-F238E27FC236}">
                <a16:creationId xmlns:a16="http://schemas.microsoft.com/office/drawing/2014/main" id="{401EE93A-1E6C-4432-DBF9-9A69E84F8128}"/>
              </a:ext>
            </a:extLst>
          </p:cNvPr>
          <p:cNvSpPr>
            <a:spLocks noGrp="1"/>
          </p:cNvSpPr>
          <p:nvPr>
            <p:ph idx="1"/>
          </p:nvPr>
        </p:nvSpPr>
        <p:spPr/>
        <p:txBody>
          <a:bodyPr>
            <a:normAutofit fontScale="92500"/>
          </a:bodyPr>
          <a:lstStyle/>
          <a:p>
            <a:pPr marL="0" indent="0">
              <a:buNone/>
            </a:pPr>
            <a:r>
              <a:rPr lang="en-GB" noProof="0" dirty="0"/>
              <a:t>Key Insights:</a:t>
            </a:r>
          </a:p>
          <a:p>
            <a:pPr algn="just">
              <a:buFont typeface="Wingdings" panose="05000000000000000000" pitchFamily="2" charset="2"/>
              <a:buChar char="Ø"/>
            </a:pPr>
            <a:r>
              <a:rPr lang="en-GB" noProof="0" dirty="0"/>
              <a:t> Customer value is highly concentrated: A small segment of high-value customers contributes a disproportionate share of total revenue, with ~25–45% higher average order values than other segments.</a:t>
            </a:r>
          </a:p>
          <a:p>
            <a:pPr algn="just">
              <a:buFont typeface="Wingdings" panose="05000000000000000000" pitchFamily="2" charset="2"/>
              <a:buChar char="Ø"/>
            </a:pPr>
            <a:r>
              <a:rPr lang="en-GB" noProof="0" dirty="0"/>
              <a:t> Low purchase frequency dominates: Over 90% of customers purchase fewer than two times, indicating weak retention and limited repeat purchasing </a:t>
            </a:r>
            <a:r>
              <a:rPr lang="en-GB" noProof="0" dirty="0" err="1"/>
              <a:t>behavior</a:t>
            </a:r>
            <a:r>
              <a:rPr lang="en-GB" noProof="0" dirty="0"/>
              <a:t>.</a:t>
            </a:r>
          </a:p>
          <a:p>
            <a:pPr algn="just">
              <a:buFont typeface="Wingdings" panose="05000000000000000000" pitchFamily="2" charset="2"/>
              <a:buChar char="Ø"/>
            </a:pPr>
            <a:r>
              <a:rPr lang="en-GB" noProof="0" dirty="0"/>
              <a:t> High-value customers prefer premium products: Strong preference for larger pack sizes (2.5 kg) and dark roasts, especially </a:t>
            </a:r>
            <a:r>
              <a:rPr lang="en-GB" noProof="0" dirty="0" err="1"/>
              <a:t>Liberica</a:t>
            </a:r>
            <a:r>
              <a:rPr lang="en-GB" noProof="0" dirty="0"/>
              <a:t>, which generates the highest revenue per product-customer combination.</a:t>
            </a:r>
          </a:p>
          <a:p>
            <a:pPr algn="just">
              <a:buFont typeface="Wingdings" panose="05000000000000000000" pitchFamily="2" charset="2"/>
              <a:buChar char="Ø"/>
            </a:pPr>
            <a:r>
              <a:rPr lang="en-GB" noProof="0" dirty="0"/>
              <a:t> Mid-value customers show upsell potential: Medium-value customers exhibit moderate order sizes, suggesting a clear opportunity to trade them up into higher-value baskets.</a:t>
            </a:r>
          </a:p>
        </p:txBody>
      </p:sp>
    </p:spTree>
    <p:extLst>
      <p:ext uri="{BB962C8B-B14F-4D97-AF65-F5344CB8AC3E}">
        <p14:creationId xmlns:p14="http://schemas.microsoft.com/office/powerpoint/2010/main" val="224670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4D9B2-0F2A-EC99-7B5A-3B781CE578E3}"/>
              </a:ext>
            </a:extLst>
          </p:cNvPr>
          <p:cNvSpPr>
            <a:spLocks noGrp="1"/>
          </p:cNvSpPr>
          <p:nvPr>
            <p:ph type="title"/>
          </p:nvPr>
        </p:nvSpPr>
        <p:spPr/>
        <p:txBody>
          <a:bodyPr/>
          <a:lstStyle/>
          <a:p>
            <a:r>
              <a:rPr lang="en-GB" noProof="0" dirty="0"/>
              <a:t>Investigating Top Customers’ Buying Behaviour - INTERPRTATION (3)</a:t>
            </a:r>
          </a:p>
        </p:txBody>
      </p:sp>
      <p:sp>
        <p:nvSpPr>
          <p:cNvPr id="3" name="Content Placeholder 2">
            <a:extLst>
              <a:ext uri="{FF2B5EF4-FFF2-40B4-BE49-F238E27FC236}">
                <a16:creationId xmlns:a16="http://schemas.microsoft.com/office/drawing/2014/main" id="{47727ADC-06BB-4D57-7A72-196A6916E32B}"/>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Revenue growth is constrained by low repeat purchases, not just customer acquisition.</a:t>
            </a:r>
          </a:p>
          <a:p>
            <a:pPr algn="just">
              <a:buFont typeface="Wingdings" panose="05000000000000000000" pitchFamily="2" charset="2"/>
              <a:buChar char="Ø"/>
            </a:pPr>
            <a:r>
              <a:rPr lang="en-GB" noProof="0" dirty="0"/>
              <a:t> Customer lifetime value (CLV) can be significantly increased through improved retention and basket expansion.</a:t>
            </a:r>
          </a:p>
          <a:p>
            <a:pPr algn="just">
              <a:buFont typeface="Wingdings" panose="05000000000000000000" pitchFamily="2" charset="2"/>
              <a:buChar char="Ø"/>
            </a:pPr>
            <a:r>
              <a:rPr lang="en-GB" noProof="0" dirty="0"/>
              <a:t> Premium products and pack sizes represent a key profit lever, especially when targeted to the right segments.</a:t>
            </a:r>
          </a:p>
          <a:p>
            <a:pPr algn="just">
              <a:buFont typeface="Wingdings" panose="05000000000000000000" pitchFamily="2" charset="2"/>
              <a:buChar char="Ø"/>
            </a:pPr>
            <a:r>
              <a:rPr lang="en-GB" noProof="0" dirty="0"/>
              <a:t> Generic promotions may underperform compared to personalised, segment-driven strategies.</a:t>
            </a:r>
          </a:p>
        </p:txBody>
      </p:sp>
    </p:spTree>
    <p:extLst>
      <p:ext uri="{BB962C8B-B14F-4D97-AF65-F5344CB8AC3E}">
        <p14:creationId xmlns:p14="http://schemas.microsoft.com/office/powerpoint/2010/main" val="1573455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31F5-339F-49B2-26DA-677184730BBD}"/>
              </a:ext>
            </a:extLst>
          </p:cNvPr>
          <p:cNvSpPr>
            <a:spLocks noGrp="1"/>
          </p:cNvSpPr>
          <p:nvPr>
            <p:ph type="title"/>
          </p:nvPr>
        </p:nvSpPr>
        <p:spPr/>
        <p:txBody>
          <a:bodyPr/>
          <a:lstStyle/>
          <a:p>
            <a:r>
              <a:rPr lang="en-GB" noProof="0" dirty="0"/>
              <a:t>Investigating Top Customers’ Buying Behaviour - INTERPRTATION (4)</a:t>
            </a:r>
          </a:p>
        </p:txBody>
      </p:sp>
      <p:sp>
        <p:nvSpPr>
          <p:cNvPr id="3" name="Content Placeholder 2">
            <a:extLst>
              <a:ext uri="{FF2B5EF4-FFF2-40B4-BE49-F238E27FC236}">
                <a16:creationId xmlns:a16="http://schemas.microsoft.com/office/drawing/2014/main" id="{2C7F4EB7-8228-1E99-754F-5D514FAF58C0}"/>
              </a:ext>
            </a:extLst>
          </p:cNvPr>
          <p:cNvSpPr>
            <a:spLocks noGrp="1"/>
          </p:cNvSpPr>
          <p:nvPr>
            <p:ph idx="1"/>
          </p:nvPr>
        </p:nvSpPr>
        <p:spPr/>
        <p:txBody>
          <a:bodyPr>
            <a:normAutofit lnSpcReduction="10000"/>
          </a:bodyPr>
          <a:lstStyle/>
          <a:p>
            <a:pPr marL="0" indent="0" algn="just">
              <a:buNone/>
            </a:pPr>
            <a:r>
              <a:rPr lang="en-GB" noProof="0" dirty="0"/>
              <a:t>Recommended Strategic Actions:</a:t>
            </a:r>
          </a:p>
          <a:p>
            <a:pPr algn="just">
              <a:buFont typeface="Wingdings" panose="05000000000000000000" pitchFamily="2" charset="2"/>
              <a:buChar char="Ø"/>
            </a:pPr>
            <a:r>
              <a:rPr lang="en-GB" noProof="0" dirty="0"/>
              <a:t> Launch targeted retention campaigns for low-frequency customers (e.g., loyalty rewards, reorder reminders, personalised discounts).</a:t>
            </a:r>
          </a:p>
          <a:p>
            <a:pPr algn="just">
              <a:buFont typeface="Wingdings" panose="05000000000000000000" pitchFamily="2" charset="2"/>
              <a:buChar char="Ø"/>
            </a:pPr>
            <a:r>
              <a:rPr lang="en-GB" noProof="0" dirty="0"/>
              <a:t> Develop premium bundles centred on dark roast and large pack sizes to appeal to high-value customers.</a:t>
            </a:r>
          </a:p>
          <a:p>
            <a:pPr algn="just">
              <a:buFont typeface="Wingdings" panose="05000000000000000000" pitchFamily="2" charset="2"/>
              <a:buChar char="Ø"/>
            </a:pPr>
            <a:r>
              <a:rPr lang="en-GB" noProof="0" dirty="0"/>
              <a:t> Implement upsell strategies for medium-value customers, such as volume discounts or subscription plans.</a:t>
            </a:r>
          </a:p>
          <a:p>
            <a:pPr algn="just">
              <a:buFont typeface="Wingdings" panose="05000000000000000000" pitchFamily="2" charset="2"/>
              <a:buChar char="Ø"/>
            </a:pPr>
            <a:r>
              <a:rPr lang="en-GB" noProof="0" dirty="0"/>
              <a:t> Personalise marketing and offers using customer segmentation based on order value and purchase frequency.</a:t>
            </a:r>
          </a:p>
          <a:p>
            <a:pPr algn="just">
              <a:buFont typeface="Wingdings" panose="05000000000000000000" pitchFamily="2" charset="2"/>
              <a:buChar char="Ø"/>
            </a:pPr>
            <a:r>
              <a:rPr lang="en-GB" noProof="0" dirty="0"/>
              <a:t> Track customer migration between segments to measure the impact of retention and upselling initiatives.</a:t>
            </a:r>
          </a:p>
        </p:txBody>
      </p:sp>
    </p:spTree>
    <p:extLst>
      <p:ext uri="{BB962C8B-B14F-4D97-AF65-F5344CB8AC3E}">
        <p14:creationId xmlns:p14="http://schemas.microsoft.com/office/powerpoint/2010/main" val="136294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AFBF0-BD4C-9EC4-1957-6B249D5C98BF}"/>
              </a:ext>
            </a:extLst>
          </p:cNvPr>
          <p:cNvSpPr>
            <a:spLocks noGrp="1"/>
          </p:cNvSpPr>
          <p:nvPr>
            <p:ph type="title"/>
          </p:nvPr>
        </p:nvSpPr>
        <p:spPr/>
        <p:txBody>
          <a:bodyPr/>
          <a:lstStyle/>
          <a:p>
            <a:r>
              <a:rPr lang="en-GB" noProof="0" dirty="0"/>
              <a:t>Loyalty Program Effectiveness: Spending &amp; Frequency Impact - Importance</a:t>
            </a:r>
          </a:p>
        </p:txBody>
      </p:sp>
      <p:sp>
        <p:nvSpPr>
          <p:cNvPr id="3" name="Content Placeholder 2">
            <a:extLst>
              <a:ext uri="{FF2B5EF4-FFF2-40B4-BE49-F238E27FC236}">
                <a16:creationId xmlns:a16="http://schemas.microsoft.com/office/drawing/2014/main" id="{59EA7359-CC99-DEE9-4812-06D16CD63507}"/>
              </a:ext>
            </a:extLst>
          </p:cNvPr>
          <p:cNvSpPr>
            <a:spLocks noGrp="1"/>
          </p:cNvSpPr>
          <p:nvPr>
            <p:ph idx="1"/>
          </p:nvPr>
        </p:nvSpPr>
        <p:spPr/>
        <p:txBody>
          <a:bodyPr/>
          <a:lstStyle/>
          <a:p>
            <a:pPr marL="0" indent="0" algn="just">
              <a:buNone/>
            </a:pPr>
            <a:r>
              <a:rPr lang="en-GB" noProof="0" dirty="0"/>
              <a:t>Understanding whether the loyalty card program meaningfully increases customer spend and purchase frequency is critical for evaluating its return on investment and guiding future customer engagement strategy. By comparing spending levels, basket sizes, and visit frequency between loyalty members and non-members, this analysis helps determine whether the program is successfully driving incremental revenue, improving retention, and strengthening long-term customer relationships. The insights directly inform decisions around promotional design, reward structures, and targeted incentives, ensuring that resources are allocated toward initiatives that demonstrably influence customer behaviour and maximise lifetime value.</a:t>
            </a:r>
          </a:p>
        </p:txBody>
      </p:sp>
    </p:spTree>
    <p:extLst>
      <p:ext uri="{BB962C8B-B14F-4D97-AF65-F5344CB8AC3E}">
        <p14:creationId xmlns:p14="http://schemas.microsoft.com/office/powerpoint/2010/main" val="2446834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266A-97C3-E727-3044-3E8165854A1E}"/>
              </a:ext>
            </a:extLst>
          </p:cNvPr>
          <p:cNvSpPr>
            <a:spLocks noGrp="1"/>
          </p:cNvSpPr>
          <p:nvPr>
            <p:ph type="title"/>
          </p:nvPr>
        </p:nvSpPr>
        <p:spPr/>
        <p:txBody>
          <a:bodyPr/>
          <a:lstStyle/>
          <a:p>
            <a:r>
              <a:rPr lang="en-GB" noProof="0" dirty="0"/>
              <a:t>Loyalty Program Effectiveness: Spending &amp; Frequency Impact - Visualisations</a:t>
            </a:r>
          </a:p>
        </p:txBody>
      </p:sp>
      <p:graphicFrame>
        <p:nvGraphicFramePr>
          <p:cNvPr id="15" name="Chart 14">
            <a:extLst>
              <a:ext uri="{FF2B5EF4-FFF2-40B4-BE49-F238E27FC236}">
                <a16:creationId xmlns:a16="http://schemas.microsoft.com/office/drawing/2014/main" id="{3AA96210-7604-4387-835D-814D291F56C6}"/>
              </a:ext>
            </a:extLst>
          </p:cNvPr>
          <p:cNvGraphicFramePr>
            <a:graphicFrameLocks/>
          </p:cNvGraphicFramePr>
          <p:nvPr>
            <p:extLst>
              <p:ext uri="{D42A27DB-BD31-4B8C-83A1-F6EECF244321}">
                <p14:modId xmlns:p14="http://schemas.microsoft.com/office/powerpoint/2010/main" val="1772802217"/>
              </p:ext>
            </p:extLst>
          </p:nvPr>
        </p:nvGraphicFramePr>
        <p:xfrm>
          <a:off x="1024128" y="2100834"/>
          <a:ext cx="5915025" cy="475716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Table 17">
            <a:extLst>
              <a:ext uri="{FF2B5EF4-FFF2-40B4-BE49-F238E27FC236}">
                <a16:creationId xmlns:a16="http://schemas.microsoft.com/office/drawing/2014/main" id="{442FF1F6-E9D1-E474-49EB-AEAE786DF4C3}"/>
              </a:ext>
            </a:extLst>
          </p:cNvPr>
          <p:cNvGraphicFramePr>
            <a:graphicFrameLocks noGrp="1"/>
          </p:cNvGraphicFramePr>
          <p:nvPr>
            <p:extLst>
              <p:ext uri="{D42A27DB-BD31-4B8C-83A1-F6EECF244321}">
                <p14:modId xmlns:p14="http://schemas.microsoft.com/office/powerpoint/2010/main" val="4216755548"/>
              </p:ext>
            </p:extLst>
          </p:nvPr>
        </p:nvGraphicFramePr>
        <p:xfrm>
          <a:off x="832451" y="-16168117"/>
          <a:ext cx="3059883" cy="4022720"/>
        </p:xfrm>
        <a:graphic>
          <a:graphicData uri="http://schemas.openxmlformats.org/drawingml/2006/table">
            <a:tbl>
              <a:tblPr>
                <a:tableStyleId>{5C22544A-7EE6-4342-B048-85BDC9FD1C3A}</a:tableStyleId>
              </a:tblPr>
              <a:tblGrid>
                <a:gridCol w="339987">
                  <a:extLst>
                    <a:ext uri="{9D8B030D-6E8A-4147-A177-3AD203B41FA5}">
                      <a16:colId xmlns:a16="http://schemas.microsoft.com/office/drawing/2014/main" val="2721955493"/>
                    </a:ext>
                  </a:extLst>
                </a:gridCol>
                <a:gridCol w="339987">
                  <a:extLst>
                    <a:ext uri="{9D8B030D-6E8A-4147-A177-3AD203B41FA5}">
                      <a16:colId xmlns:a16="http://schemas.microsoft.com/office/drawing/2014/main" val="3601543414"/>
                    </a:ext>
                  </a:extLst>
                </a:gridCol>
                <a:gridCol w="339987">
                  <a:extLst>
                    <a:ext uri="{9D8B030D-6E8A-4147-A177-3AD203B41FA5}">
                      <a16:colId xmlns:a16="http://schemas.microsoft.com/office/drawing/2014/main" val="62706274"/>
                    </a:ext>
                  </a:extLst>
                </a:gridCol>
                <a:gridCol w="339987">
                  <a:extLst>
                    <a:ext uri="{9D8B030D-6E8A-4147-A177-3AD203B41FA5}">
                      <a16:colId xmlns:a16="http://schemas.microsoft.com/office/drawing/2014/main" val="5550607"/>
                    </a:ext>
                  </a:extLst>
                </a:gridCol>
                <a:gridCol w="339987">
                  <a:extLst>
                    <a:ext uri="{9D8B030D-6E8A-4147-A177-3AD203B41FA5}">
                      <a16:colId xmlns:a16="http://schemas.microsoft.com/office/drawing/2014/main" val="3459761546"/>
                    </a:ext>
                  </a:extLst>
                </a:gridCol>
                <a:gridCol w="339987">
                  <a:extLst>
                    <a:ext uri="{9D8B030D-6E8A-4147-A177-3AD203B41FA5}">
                      <a16:colId xmlns:a16="http://schemas.microsoft.com/office/drawing/2014/main" val="444490255"/>
                    </a:ext>
                  </a:extLst>
                </a:gridCol>
                <a:gridCol w="339987">
                  <a:extLst>
                    <a:ext uri="{9D8B030D-6E8A-4147-A177-3AD203B41FA5}">
                      <a16:colId xmlns:a16="http://schemas.microsoft.com/office/drawing/2014/main" val="3547949149"/>
                    </a:ext>
                  </a:extLst>
                </a:gridCol>
                <a:gridCol w="339987">
                  <a:extLst>
                    <a:ext uri="{9D8B030D-6E8A-4147-A177-3AD203B41FA5}">
                      <a16:colId xmlns:a16="http://schemas.microsoft.com/office/drawing/2014/main" val="911879103"/>
                    </a:ext>
                  </a:extLst>
                </a:gridCol>
                <a:gridCol w="339987">
                  <a:extLst>
                    <a:ext uri="{9D8B030D-6E8A-4147-A177-3AD203B41FA5}">
                      <a16:colId xmlns:a16="http://schemas.microsoft.com/office/drawing/2014/main" val="654477234"/>
                    </a:ext>
                  </a:extLst>
                </a:gridCol>
              </a:tblGrid>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823636468"/>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40687242"/>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9764759"/>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56108871"/>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87869804"/>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67309408"/>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59837287"/>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15756011"/>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876337626"/>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92148150"/>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21188790"/>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70825602"/>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87235900"/>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13921"/>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91270594"/>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28839021"/>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83792078"/>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35277873"/>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2158879"/>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87425303"/>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9020747"/>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08389202"/>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03212755"/>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23767723"/>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244474147"/>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06393166"/>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3612923"/>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39378113"/>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7881192"/>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83472294"/>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81439840"/>
                  </a:ext>
                </a:extLst>
              </a:tr>
              <a:tr h="125710">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98469916"/>
                  </a:ext>
                </a:extLst>
              </a:tr>
            </a:tbl>
          </a:graphicData>
        </a:graphic>
      </p:graphicFrame>
      <p:graphicFrame>
        <p:nvGraphicFramePr>
          <p:cNvPr id="19" name="Chart 18">
            <a:extLst>
              <a:ext uri="{FF2B5EF4-FFF2-40B4-BE49-F238E27FC236}">
                <a16:creationId xmlns:a16="http://schemas.microsoft.com/office/drawing/2014/main" id="{A0808EA3-CF95-4C47-BDA7-279DC05381CE}"/>
              </a:ext>
            </a:extLst>
          </p:cNvPr>
          <p:cNvGraphicFramePr>
            <a:graphicFrameLocks/>
          </p:cNvGraphicFramePr>
          <p:nvPr>
            <p:extLst>
              <p:ext uri="{D42A27DB-BD31-4B8C-83A1-F6EECF244321}">
                <p14:modId xmlns:p14="http://schemas.microsoft.com/office/powerpoint/2010/main" val="2125936549"/>
              </p:ext>
            </p:extLst>
          </p:nvPr>
        </p:nvGraphicFramePr>
        <p:xfrm>
          <a:off x="7109426" y="2100834"/>
          <a:ext cx="4492024" cy="22637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a:extLst>
              <a:ext uri="{FF2B5EF4-FFF2-40B4-BE49-F238E27FC236}">
                <a16:creationId xmlns:a16="http://schemas.microsoft.com/office/drawing/2014/main" id="{69312B28-A385-46AA-8037-261053295765}"/>
              </a:ext>
            </a:extLst>
          </p:cNvPr>
          <p:cNvGraphicFramePr>
            <a:graphicFrameLocks/>
          </p:cNvGraphicFramePr>
          <p:nvPr>
            <p:extLst>
              <p:ext uri="{D42A27DB-BD31-4B8C-83A1-F6EECF244321}">
                <p14:modId xmlns:p14="http://schemas.microsoft.com/office/powerpoint/2010/main" val="2374166892"/>
              </p:ext>
            </p:extLst>
          </p:nvPr>
        </p:nvGraphicFramePr>
        <p:xfrm>
          <a:off x="7110901" y="4432169"/>
          <a:ext cx="4500074" cy="24258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9270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0EB1-2D57-AC0E-C27B-340D8FB4E080}"/>
              </a:ext>
            </a:extLst>
          </p:cNvPr>
          <p:cNvSpPr>
            <a:spLocks noGrp="1"/>
          </p:cNvSpPr>
          <p:nvPr>
            <p:ph type="title"/>
          </p:nvPr>
        </p:nvSpPr>
        <p:spPr/>
        <p:txBody>
          <a:bodyPr/>
          <a:lstStyle/>
          <a:p>
            <a:r>
              <a:rPr lang="en-GB" noProof="0" dirty="0"/>
              <a:t>Loyalty Program Effectiveness: Spending &amp; Frequency Impact - interpretation (1)</a:t>
            </a:r>
          </a:p>
        </p:txBody>
      </p:sp>
      <p:sp>
        <p:nvSpPr>
          <p:cNvPr id="3" name="Content Placeholder 2">
            <a:extLst>
              <a:ext uri="{FF2B5EF4-FFF2-40B4-BE49-F238E27FC236}">
                <a16:creationId xmlns:a16="http://schemas.microsoft.com/office/drawing/2014/main" id="{04ED9C64-1215-2D6F-11E4-404E2A6EDC4C}"/>
              </a:ext>
            </a:extLst>
          </p:cNvPr>
          <p:cNvSpPr>
            <a:spLocks noGrp="1"/>
          </p:cNvSpPr>
          <p:nvPr>
            <p:ph idx="1"/>
          </p:nvPr>
        </p:nvSpPr>
        <p:spPr>
          <a:xfrm>
            <a:off x="1024128" y="2285999"/>
            <a:ext cx="9720073" cy="3831337"/>
          </a:xfrm>
        </p:spPr>
        <p:txBody>
          <a:bodyPr>
            <a:normAutofit fontScale="77500" lnSpcReduction="20000"/>
          </a:bodyPr>
          <a:lstStyle/>
          <a:p>
            <a:pPr marL="0" indent="0" algn="just">
              <a:buNone/>
            </a:pPr>
            <a:r>
              <a:rPr lang="en-GB" sz="2600" noProof="0" dirty="0"/>
              <a:t>Analysis Report:</a:t>
            </a:r>
          </a:p>
          <a:p>
            <a:pPr marL="0" indent="0" algn="just">
              <a:buNone/>
            </a:pPr>
            <a:r>
              <a:rPr lang="en-GB" noProof="0" dirty="0"/>
              <a:t>The analysis shows a highly skewed customer value distribution, where most customers contribute relatively low spend, while a small segment drives a disproportionately large share of revenue. Over 65–70% of customers fall into the $0–$50 spending range, whereas fewer than 10% spend more than $100, highlighting a strong opportunity to convert mid- and low-tier customers into higher-value segments. Among top customers, average order values exceed $200, with the highest reaching $218.73, demonstrating the significant revenue potential of increasing basket size and purchase frequency.</a:t>
            </a:r>
          </a:p>
          <a:p>
            <a:pPr marL="0" indent="0" algn="just">
              <a:buNone/>
            </a:pPr>
            <a:r>
              <a:rPr lang="en-GB" noProof="0" dirty="0"/>
              <a:t>Purchase </a:t>
            </a:r>
            <a:r>
              <a:rPr lang="en-GB" noProof="0" dirty="0" err="1"/>
              <a:t>behavior</a:t>
            </a:r>
            <a:r>
              <a:rPr lang="en-GB" noProof="0" dirty="0"/>
              <a:t> varies meaningfully by customer frequency. High-frequency customers (&gt;4 purchases) strongly </a:t>
            </a:r>
            <a:r>
              <a:rPr lang="en-GB" noProof="0" dirty="0" err="1"/>
              <a:t>favor</a:t>
            </a:r>
            <a:r>
              <a:rPr lang="en-GB" noProof="0" dirty="0"/>
              <a:t> </a:t>
            </a:r>
            <a:r>
              <a:rPr lang="en-GB" noProof="0" dirty="0" err="1"/>
              <a:t>Liberica</a:t>
            </a:r>
            <a:r>
              <a:rPr lang="en-GB" noProof="0" dirty="0"/>
              <a:t> (62.3%) and Excelsa (47.4%), suggesting a preference for premium or differentiated products. In contrast, low-frequency customers (&lt;2 purchases) display a more balanced product mix, led by Excelsa (50.8%) and Arabica (45.7%). This indicates that as customers become more engaged, they tend to shift toward higher-value specialty coffee types, increasing their lifetime value.</a:t>
            </a:r>
          </a:p>
          <a:p>
            <a:pPr marL="0" indent="0" algn="just">
              <a:buNone/>
            </a:pPr>
            <a:r>
              <a:rPr lang="en-GB" noProof="0" dirty="0"/>
              <a:t>From a strategic viewpoint, these patterns suggest that the loyalty program can act as a critical lever to influence both spending and product preferences. By encouraging increased visit frequency and promoting premium product trial, the program can accelerate customer migration from low-value segments into high-value cohorts, while reinforcing retention among the most profitable customers.</a:t>
            </a:r>
          </a:p>
        </p:txBody>
      </p:sp>
    </p:spTree>
    <p:extLst>
      <p:ext uri="{BB962C8B-B14F-4D97-AF65-F5344CB8AC3E}">
        <p14:creationId xmlns:p14="http://schemas.microsoft.com/office/powerpoint/2010/main" val="74388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2216-8EB5-9C6C-7EDE-12575D0B8D3A}"/>
              </a:ext>
            </a:extLst>
          </p:cNvPr>
          <p:cNvSpPr>
            <a:spLocks noGrp="1"/>
          </p:cNvSpPr>
          <p:nvPr>
            <p:ph type="title"/>
          </p:nvPr>
        </p:nvSpPr>
        <p:spPr/>
        <p:txBody>
          <a:bodyPr/>
          <a:lstStyle/>
          <a:p>
            <a:r>
              <a:rPr lang="en-GB" noProof="0" dirty="0"/>
              <a:t>Loyalty Program Effectiveness: Spending &amp; Frequency Impact - interpretation (2)</a:t>
            </a:r>
          </a:p>
        </p:txBody>
      </p:sp>
      <p:sp>
        <p:nvSpPr>
          <p:cNvPr id="3" name="Content Placeholder 2">
            <a:extLst>
              <a:ext uri="{FF2B5EF4-FFF2-40B4-BE49-F238E27FC236}">
                <a16:creationId xmlns:a16="http://schemas.microsoft.com/office/drawing/2014/main" id="{1C2BA589-2798-15A5-A6CE-5EB1D879E152}"/>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Revenue is highly concentrated, with &lt;10% of customers driving a disproportionate share of spend.</a:t>
            </a:r>
          </a:p>
          <a:p>
            <a:pPr algn="just">
              <a:buFont typeface="Wingdings" panose="05000000000000000000" pitchFamily="2" charset="2"/>
              <a:buChar char="Ø"/>
            </a:pPr>
            <a:r>
              <a:rPr lang="en-GB" noProof="0" dirty="0"/>
              <a:t> Over 65% of customers spend less than $50, indicating the possibility for a significant upside in customer development.</a:t>
            </a:r>
          </a:p>
          <a:p>
            <a:pPr algn="just">
              <a:buFont typeface="Wingdings" panose="05000000000000000000" pitchFamily="2" charset="2"/>
              <a:buChar char="Ø"/>
            </a:pPr>
            <a:r>
              <a:rPr lang="en-GB" noProof="0" dirty="0"/>
              <a:t> High-frequency customers show a clear preference for premium products, particularly </a:t>
            </a:r>
            <a:r>
              <a:rPr lang="en-GB" noProof="0" dirty="0" err="1"/>
              <a:t>Liberica</a:t>
            </a:r>
            <a:r>
              <a:rPr lang="en-GB" noProof="0" dirty="0"/>
              <a:t> and Excelsa.</a:t>
            </a:r>
          </a:p>
          <a:p>
            <a:pPr algn="just">
              <a:buFont typeface="Wingdings" panose="05000000000000000000" pitchFamily="2" charset="2"/>
              <a:buChar char="Ø"/>
            </a:pPr>
            <a:r>
              <a:rPr lang="en-GB" noProof="0" dirty="0"/>
              <a:t> Increased engagement is strongly associated with higher average order values and premium product adoption.</a:t>
            </a:r>
          </a:p>
          <a:p>
            <a:pPr>
              <a:buFont typeface="Wingdings" panose="05000000000000000000" pitchFamily="2" charset="2"/>
              <a:buChar char="Ø"/>
            </a:pPr>
            <a:endParaRPr lang="en-GB" noProof="0" dirty="0"/>
          </a:p>
        </p:txBody>
      </p:sp>
    </p:spTree>
    <p:extLst>
      <p:ext uri="{BB962C8B-B14F-4D97-AF65-F5344CB8AC3E}">
        <p14:creationId xmlns:p14="http://schemas.microsoft.com/office/powerpoint/2010/main" val="1917057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46A94-9240-39FC-4AA4-15A35D471848}"/>
              </a:ext>
            </a:extLst>
          </p:cNvPr>
          <p:cNvSpPr>
            <a:spLocks noGrp="1"/>
          </p:cNvSpPr>
          <p:nvPr>
            <p:ph type="title"/>
          </p:nvPr>
        </p:nvSpPr>
        <p:spPr/>
        <p:txBody>
          <a:bodyPr/>
          <a:lstStyle/>
          <a:p>
            <a:r>
              <a:rPr lang="en-GB" noProof="0" dirty="0"/>
              <a:t>Loyalty Program Effectiveness: Spending &amp; Frequency Impact - interpretation (3)</a:t>
            </a:r>
          </a:p>
        </p:txBody>
      </p:sp>
      <p:sp>
        <p:nvSpPr>
          <p:cNvPr id="3" name="Content Placeholder 2">
            <a:extLst>
              <a:ext uri="{FF2B5EF4-FFF2-40B4-BE49-F238E27FC236}">
                <a16:creationId xmlns:a16="http://schemas.microsoft.com/office/drawing/2014/main" id="{E8C91BCD-3772-EA54-9414-7B62ECC5E6E7}"/>
              </a:ext>
            </a:extLst>
          </p:cNvPr>
          <p:cNvSpPr>
            <a:spLocks noGrp="1"/>
          </p:cNvSpPr>
          <p:nvPr>
            <p:ph idx="1"/>
          </p:nvPr>
        </p:nvSpPr>
        <p:spPr/>
        <p:txBody>
          <a:bodyPr/>
          <a:lstStyle/>
          <a:p>
            <a:pPr marL="0" indent="0" algn="just">
              <a:buNone/>
            </a:pPr>
            <a:r>
              <a:rPr lang="en-GB" noProof="0" dirty="0"/>
              <a:t>Business Implications:</a:t>
            </a:r>
          </a:p>
          <a:p>
            <a:pPr algn="just">
              <a:buFont typeface="Wingdings" panose="05000000000000000000" pitchFamily="2" charset="2"/>
              <a:buChar char="Ø"/>
            </a:pPr>
            <a:r>
              <a:rPr lang="en-GB" noProof="0" dirty="0"/>
              <a:t> Growing revenue will depend more on exploring customer relationships than simply acquiring new customers.</a:t>
            </a:r>
          </a:p>
          <a:p>
            <a:pPr algn="just">
              <a:buFont typeface="Wingdings" panose="05000000000000000000" pitchFamily="2" charset="2"/>
              <a:buChar char="Ø"/>
            </a:pPr>
            <a:r>
              <a:rPr lang="en-GB" noProof="0" dirty="0"/>
              <a:t> The loyalty program represents a powerful initiative for increasing purchase frequency, basket size, and lifetime value.</a:t>
            </a:r>
          </a:p>
          <a:p>
            <a:pPr algn="just">
              <a:buFont typeface="Wingdings" panose="05000000000000000000" pitchFamily="2" charset="2"/>
              <a:buChar char="Ø"/>
            </a:pPr>
            <a:r>
              <a:rPr lang="en-GB" noProof="0" dirty="0"/>
              <a:t> Premium product performance suggests opportunities to drive margin expansion through product mix optimisation.</a:t>
            </a:r>
          </a:p>
          <a:p>
            <a:pPr algn="just">
              <a:buFont typeface="Wingdings" panose="05000000000000000000" pitchFamily="2" charset="2"/>
              <a:buChar char="Ø"/>
            </a:pPr>
            <a:r>
              <a:rPr lang="en-GB" noProof="0" dirty="0"/>
              <a:t> Customer segmentation and targeted engagement can significantly improve marketing efficiency and Return On Investment (ROI).</a:t>
            </a:r>
          </a:p>
        </p:txBody>
      </p:sp>
    </p:spTree>
    <p:extLst>
      <p:ext uri="{BB962C8B-B14F-4D97-AF65-F5344CB8AC3E}">
        <p14:creationId xmlns:p14="http://schemas.microsoft.com/office/powerpoint/2010/main" val="533013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AC34-4B6C-5AD5-6F34-2875850B4D73}"/>
              </a:ext>
            </a:extLst>
          </p:cNvPr>
          <p:cNvSpPr>
            <a:spLocks noGrp="1"/>
          </p:cNvSpPr>
          <p:nvPr>
            <p:ph type="title"/>
          </p:nvPr>
        </p:nvSpPr>
        <p:spPr/>
        <p:txBody>
          <a:bodyPr/>
          <a:lstStyle/>
          <a:p>
            <a:r>
              <a:rPr lang="en-GB" noProof="0" dirty="0"/>
              <a:t>Loyalty Program Effectiveness: Spending &amp; Frequency Impact - interpretation (4)</a:t>
            </a:r>
          </a:p>
        </p:txBody>
      </p:sp>
      <p:sp>
        <p:nvSpPr>
          <p:cNvPr id="3" name="Content Placeholder 2">
            <a:extLst>
              <a:ext uri="{FF2B5EF4-FFF2-40B4-BE49-F238E27FC236}">
                <a16:creationId xmlns:a16="http://schemas.microsoft.com/office/drawing/2014/main" id="{FB21CDE8-308D-883C-1308-9D0D472CC0D9}"/>
              </a:ext>
            </a:extLst>
          </p:cNvPr>
          <p:cNvSpPr>
            <a:spLocks noGrp="1"/>
          </p:cNvSpPr>
          <p:nvPr>
            <p:ph idx="1"/>
          </p:nvPr>
        </p:nvSpPr>
        <p:spPr/>
        <p:txBody>
          <a:bodyPr>
            <a:normAutofit lnSpcReduction="10000"/>
          </a:bodyPr>
          <a:lstStyle/>
          <a:p>
            <a:pPr marL="0" indent="0" algn="just">
              <a:buNone/>
            </a:pPr>
            <a:r>
              <a:rPr lang="en-GB" noProof="0" dirty="0"/>
              <a:t>Recommended Strategic Actions:</a:t>
            </a:r>
          </a:p>
          <a:p>
            <a:pPr algn="just">
              <a:buFont typeface="Wingdings" panose="05000000000000000000" pitchFamily="2" charset="2"/>
              <a:buChar char="Ø"/>
            </a:pPr>
            <a:r>
              <a:rPr lang="en-GB" noProof="0" dirty="0"/>
              <a:t> Introduce tiered loyalty rewards to incentive higher purchase frequency and spending thresholds.</a:t>
            </a:r>
          </a:p>
          <a:p>
            <a:pPr algn="just">
              <a:buFont typeface="Wingdings" panose="05000000000000000000" pitchFamily="2" charset="2"/>
              <a:buChar char="Ø"/>
            </a:pPr>
            <a:r>
              <a:rPr lang="en-GB" noProof="0" dirty="0"/>
              <a:t> Deploy personalised product recommendations to encourage trade-up into premium coffee types.</a:t>
            </a:r>
          </a:p>
          <a:p>
            <a:pPr algn="just">
              <a:buFont typeface="Wingdings" panose="05000000000000000000" pitchFamily="2" charset="2"/>
              <a:buChar char="Ø"/>
            </a:pPr>
            <a:r>
              <a:rPr lang="en-GB" noProof="0" dirty="0"/>
              <a:t> Design targeted campaigns for low- and mid-frequency customers to stimulate repeat purchases.</a:t>
            </a:r>
          </a:p>
          <a:p>
            <a:pPr algn="just">
              <a:buFont typeface="Wingdings" panose="05000000000000000000" pitchFamily="2" charset="2"/>
              <a:buChar char="Ø"/>
            </a:pPr>
            <a:r>
              <a:rPr lang="en-GB" noProof="0" dirty="0"/>
              <a:t> Offer exclusive benefits and early access to new products for top-tier customers to protect retention.</a:t>
            </a:r>
          </a:p>
          <a:p>
            <a:pPr algn="just">
              <a:buFont typeface="Wingdings" panose="05000000000000000000" pitchFamily="2" charset="2"/>
              <a:buChar char="Ø"/>
            </a:pPr>
            <a:r>
              <a:rPr lang="en-GB" noProof="0" dirty="0"/>
              <a:t> Track conversion rates between frequency tiers and average order value uplift as core loyalty Key Performance Indicators (KPI).</a:t>
            </a:r>
          </a:p>
          <a:p>
            <a:pPr algn="just">
              <a:buFont typeface="Wingdings" panose="05000000000000000000" pitchFamily="2" charset="2"/>
              <a:buChar char="Ø"/>
            </a:pPr>
            <a:endParaRPr lang="en-GB" noProof="0" dirty="0"/>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3328969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E5D1D-5568-FDED-51B3-4E836C117006}"/>
              </a:ext>
            </a:extLst>
          </p:cNvPr>
          <p:cNvSpPr>
            <a:spLocks noGrp="1"/>
          </p:cNvSpPr>
          <p:nvPr>
            <p:ph type="title"/>
          </p:nvPr>
        </p:nvSpPr>
        <p:spPr/>
        <p:txBody>
          <a:bodyPr>
            <a:normAutofit/>
          </a:bodyPr>
          <a:lstStyle/>
          <a:p>
            <a:r>
              <a:rPr lang="en-GB" noProof="0" dirty="0"/>
              <a:t>Price–Volume Trade-offs Across Product Sizes - Significance</a:t>
            </a:r>
          </a:p>
        </p:txBody>
      </p:sp>
      <p:sp>
        <p:nvSpPr>
          <p:cNvPr id="3" name="Content Placeholder 2">
            <a:extLst>
              <a:ext uri="{FF2B5EF4-FFF2-40B4-BE49-F238E27FC236}">
                <a16:creationId xmlns:a16="http://schemas.microsoft.com/office/drawing/2014/main" id="{2F9C9C81-8447-0E92-4155-95219A6D6B4A}"/>
              </a:ext>
            </a:extLst>
          </p:cNvPr>
          <p:cNvSpPr>
            <a:spLocks noGrp="1"/>
          </p:cNvSpPr>
          <p:nvPr>
            <p:ph idx="1"/>
          </p:nvPr>
        </p:nvSpPr>
        <p:spPr/>
        <p:txBody>
          <a:bodyPr/>
          <a:lstStyle/>
          <a:p>
            <a:pPr marL="0" indent="0" algn="just">
              <a:buNone/>
            </a:pPr>
            <a:r>
              <a:rPr lang="en-GB" noProof="0" dirty="0"/>
              <a:t>Understanding how pricing and package size influence sales performance is critical for optimising both revenue and volume across the product portfolio. This analysis helps identify the price points and pack sizes that maximise customer uptake, reveal demand sensitivity to price changes, and discover opportunities to rebalance the mix between high-volume, low-margin items and premium, high-margin products. By aligning pricing strategy and packaging decisions with customer purchasing behaviour, the coffee retail business can improve conversion rates, average order value, and profitability, while ensuring the product offering remains competitive, accessible, and aligned with market demand.</a:t>
            </a:r>
          </a:p>
        </p:txBody>
      </p:sp>
    </p:spTree>
    <p:extLst>
      <p:ext uri="{BB962C8B-B14F-4D97-AF65-F5344CB8AC3E}">
        <p14:creationId xmlns:p14="http://schemas.microsoft.com/office/powerpoint/2010/main" val="720632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D4000-DBEC-3C8F-B6FA-23D618CAA066}"/>
              </a:ext>
            </a:extLst>
          </p:cNvPr>
          <p:cNvSpPr>
            <a:spLocks noGrp="1"/>
          </p:cNvSpPr>
          <p:nvPr>
            <p:ph type="title"/>
          </p:nvPr>
        </p:nvSpPr>
        <p:spPr/>
        <p:txBody>
          <a:bodyPr/>
          <a:lstStyle/>
          <a:p>
            <a:r>
              <a:rPr lang="en-GB" noProof="0" dirty="0"/>
              <a:t>Price–Volume Trade-offs Across Product Sizes - VISUALISATIONS</a:t>
            </a:r>
          </a:p>
        </p:txBody>
      </p:sp>
      <p:graphicFrame>
        <p:nvGraphicFramePr>
          <p:cNvPr id="4" name="Table 3">
            <a:extLst>
              <a:ext uri="{FF2B5EF4-FFF2-40B4-BE49-F238E27FC236}">
                <a16:creationId xmlns:a16="http://schemas.microsoft.com/office/drawing/2014/main" id="{150D2991-6F46-1C0D-F1C7-FCE34B715E8F}"/>
              </a:ext>
            </a:extLst>
          </p:cNvPr>
          <p:cNvGraphicFramePr>
            <a:graphicFrameLocks noGrp="1"/>
          </p:cNvGraphicFramePr>
          <p:nvPr>
            <p:extLst>
              <p:ext uri="{D42A27DB-BD31-4B8C-83A1-F6EECF244321}">
                <p14:modId xmlns:p14="http://schemas.microsoft.com/office/powerpoint/2010/main" val="2164900022"/>
              </p:ext>
            </p:extLst>
          </p:nvPr>
        </p:nvGraphicFramePr>
        <p:xfrm>
          <a:off x="814578" y="-23914799"/>
          <a:ext cx="7889731" cy="4022715"/>
        </p:xfrm>
        <a:graphic>
          <a:graphicData uri="http://schemas.openxmlformats.org/drawingml/2006/table">
            <a:tbl>
              <a:tblPr>
                <a:tableStyleId>{5C22544A-7EE6-4342-B048-85BDC9FD1C3A}</a:tableStyleId>
              </a:tblPr>
              <a:tblGrid>
                <a:gridCol w="415249">
                  <a:extLst>
                    <a:ext uri="{9D8B030D-6E8A-4147-A177-3AD203B41FA5}">
                      <a16:colId xmlns:a16="http://schemas.microsoft.com/office/drawing/2014/main" val="1565282714"/>
                    </a:ext>
                  </a:extLst>
                </a:gridCol>
                <a:gridCol w="415249">
                  <a:extLst>
                    <a:ext uri="{9D8B030D-6E8A-4147-A177-3AD203B41FA5}">
                      <a16:colId xmlns:a16="http://schemas.microsoft.com/office/drawing/2014/main" val="2622002148"/>
                    </a:ext>
                  </a:extLst>
                </a:gridCol>
                <a:gridCol w="415249">
                  <a:extLst>
                    <a:ext uri="{9D8B030D-6E8A-4147-A177-3AD203B41FA5}">
                      <a16:colId xmlns:a16="http://schemas.microsoft.com/office/drawing/2014/main" val="754033488"/>
                    </a:ext>
                  </a:extLst>
                </a:gridCol>
                <a:gridCol w="415249">
                  <a:extLst>
                    <a:ext uri="{9D8B030D-6E8A-4147-A177-3AD203B41FA5}">
                      <a16:colId xmlns:a16="http://schemas.microsoft.com/office/drawing/2014/main" val="2230974206"/>
                    </a:ext>
                  </a:extLst>
                </a:gridCol>
                <a:gridCol w="415249">
                  <a:extLst>
                    <a:ext uri="{9D8B030D-6E8A-4147-A177-3AD203B41FA5}">
                      <a16:colId xmlns:a16="http://schemas.microsoft.com/office/drawing/2014/main" val="3215175637"/>
                    </a:ext>
                  </a:extLst>
                </a:gridCol>
                <a:gridCol w="415249">
                  <a:extLst>
                    <a:ext uri="{9D8B030D-6E8A-4147-A177-3AD203B41FA5}">
                      <a16:colId xmlns:a16="http://schemas.microsoft.com/office/drawing/2014/main" val="1281988151"/>
                    </a:ext>
                  </a:extLst>
                </a:gridCol>
                <a:gridCol w="415249">
                  <a:extLst>
                    <a:ext uri="{9D8B030D-6E8A-4147-A177-3AD203B41FA5}">
                      <a16:colId xmlns:a16="http://schemas.microsoft.com/office/drawing/2014/main" val="4277551552"/>
                    </a:ext>
                  </a:extLst>
                </a:gridCol>
                <a:gridCol w="415249">
                  <a:extLst>
                    <a:ext uri="{9D8B030D-6E8A-4147-A177-3AD203B41FA5}">
                      <a16:colId xmlns:a16="http://schemas.microsoft.com/office/drawing/2014/main" val="777927520"/>
                    </a:ext>
                  </a:extLst>
                </a:gridCol>
                <a:gridCol w="415249">
                  <a:extLst>
                    <a:ext uri="{9D8B030D-6E8A-4147-A177-3AD203B41FA5}">
                      <a16:colId xmlns:a16="http://schemas.microsoft.com/office/drawing/2014/main" val="3080640445"/>
                    </a:ext>
                  </a:extLst>
                </a:gridCol>
                <a:gridCol w="415249">
                  <a:extLst>
                    <a:ext uri="{9D8B030D-6E8A-4147-A177-3AD203B41FA5}">
                      <a16:colId xmlns:a16="http://schemas.microsoft.com/office/drawing/2014/main" val="3086707295"/>
                    </a:ext>
                  </a:extLst>
                </a:gridCol>
                <a:gridCol w="415249">
                  <a:extLst>
                    <a:ext uri="{9D8B030D-6E8A-4147-A177-3AD203B41FA5}">
                      <a16:colId xmlns:a16="http://schemas.microsoft.com/office/drawing/2014/main" val="2617016523"/>
                    </a:ext>
                  </a:extLst>
                </a:gridCol>
                <a:gridCol w="415249">
                  <a:extLst>
                    <a:ext uri="{9D8B030D-6E8A-4147-A177-3AD203B41FA5}">
                      <a16:colId xmlns:a16="http://schemas.microsoft.com/office/drawing/2014/main" val="4156990689"/>
                    </a:ext>
                  </a:extLst>
                </a:gridCol>
                <a:gridCol w="415249">
                  <a:extLst>
                    <a:ext uri="{9D8B030D-6E8A-4147-A177-3AD203B41FA5}">
                      <a16:colId xmlns:a16="http://schemas.microsoft.com/office/drawing/2014/main" val="2055998892"/>
                    </a:ext>
                  </a:extLst>
                </a:gridCol>
                <a:gridCol w="415249">
                  <a:extLst>
                    <a:ext uri="{9D8B030D-6E8A-4147-A177-3AD203B41FA5}">
                      <a16:colId xmlns:a16="http://schemas.microsoft.com/office/drawing/2014/main" val="664464949"/>
                    </a:ext>
                  </a:extLst>
                </a:gridCol>
                <a:gridCol w="415249">
                  <a:extLst>
                    <a:ext uri="{9D8B030D-6E8A-4147-A177-3AD203B41FA5}">
                      <a16:colId xmlns:a16="http://schemas.microsoft.com/office/drawing/2014/main" val="4007715469"/>
                    </a:ext>
                  </a:extLst>
                </a:gridCol>
                <a:gridCol w="415249">
                  <a:extLst>
                    <a:ext uri="{9D8B030D-6E8A-4147-A177-3AD203B41FA5}">
                      <a16:colId xmlns:a16="http://schemas.microsoft.com/office/drawing/2014/main" val="1473775134"/>
                    </a:ext>
                  </a:extLst>
                </a:gridCol>
                <a:gridCol w="415249">
                  <a:extLst>
                    <a:ext uri="{9D8B030D-6E8A-4147-A177-3AD203B41FA5}">
                      <a16:colId xmlns:a16="http://schemas.microsoft.com/office/drawing/2014/main" val="3875935711"/>
                    </a:ext>
                  </a:extLst>
                </a:gridCol>
                <a:gridCol w="415249">
                  <a:extLst>
                    <a:ext uri="{9D8B030D-6E8A-4147-A177-3AD203B41FA5}">
                      <a16:colId xmlns:a16="http://schemas.microsoft.com/office/drawing/2014/main" val="139487912"/>
                    </a:ext>
                  </a:extLst>
                </a:gridCol>
                <a:gridCol w="415249">
                  <a:extLst>
                    <a:ext uri="{9D8B030D-6E8A-4147-A177-3AD203B41FA5}">
                      <a16:colId xmlns:a16="http://schemas.microsoft.com/office/drawing/2014/main" val="2852154137"/>
                    </a:ext>
                  </a:extLst>
                </a:gridCol>
              </a:tblGrid>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3877143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91291500"/>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8413994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664541077"/>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74864614"/>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86452960"/>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41542588"/>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69185968"/>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62184465"/>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4629461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31430750"/>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7780725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27676687"/>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65113199"/>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2880652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34544387"/>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76639071"/>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883665711"/>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09520552"/>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99031564"/>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49917282"/>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22688212"/>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91443776"/>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255445044"/>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75985865"/>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11550085"/>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69129799"/>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71223182"/>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63856049"/>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85050993"/>
                  </a:ext>
                </a:extLst>
              </a:tr>
              <a:tr h="129765">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7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35017339"/>
                  </a:ext>
                </a:extLst>
              </a:tr>
            </a:tbl>
          </a:graphicData>
        </a:graphic>
      </p:graphicFrame>
      <p:graphicFrame>
        <p:nvGraphicFramePr>
          <p:cNvPr id="5" name="Chart 4">
            <a:extLst>
              <a:ext uri="{FF2B5EF4-FFF2-40B4-BE49-F238E27FC236}">
                <a16:creationId xmlns:a16="http://schemas.microsoft.com/office/drawing/2014/main" id="{99E677D6-82D3-4238-B32A-06E9F051D32B}"/>
              </a:ext>
            </a:extLst>
          </p:cNvPr>
          <p:cNvGraphicFramePr>
            <a:graphicFrameLocks/>
          </p:cNvGraphicFramePr>
          <p:nvPr>
            <p:extLst>
              <p:ext uri="{D42A27DB-BD31-4B8C-83A1-F6EECF244321}">
                <p14:modId xmlns:p14="http://schemas.microsoft.com/office/powerpoint/2010/main" val="1240993296"/>
              </p:ext>
            </p:extLst>
          </p:nvPr>
        </p:nvGraphicFramePr>
        <p:xfrm>
          <a:off x="1024128" y="1964627"/>
          <a:ext cx="5071872" cy="48933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157F1D7D-DF7D-4458-99B0-26A3DD27800C}"/>
              </a:ext>
            </a:extLst>
          </p:cNvPr>
          <p:cNvGraphicFramePr>
            <a:graphicFrameLocks/>
          </p:cNvGraphicFramePr>
          <p:nvPr>
            <p:extLst>
              <p:ext uri="{D42A27DB-BD31-4B8C-83A1-F6EECF244321}">
                <p14:modId xmlns:p14="http://schemas.microsoft.com/office/powerpoint/2010/main" val="3260363201"/>
              </p:ext>
            </p:extLst>
          </p:nvPr>
        </p:nvGraphicFramePr>
        <p:xfrm>
          <a:off x="6245352" y="1964627"/>
          <a:ext cx="5071871" cy="23513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942B3AD4-A698-43C2-A55D-11E0EE8EE1F3}"/>
              </a:ext>
            </a:extLst>
          </p:cNvPr>
          <p:cNvGraphicFramePr>
            <a:graphicFrameLocks/>
          </p:cNvGraphicFramePr>
          <p:nvPr>
            <p:extLst>
              <p:ext uri="{D42A27DB-BD31-4B8C-83A1-F6EECF244321}">
                <p14:modId xmlns:p14="http://schemas.microsoft.com/office/powerpoint/2010/main" val="2810989571"/>
              </p:ext>
            </p:extLst>
          </p:nvPr>
        </p:nvGraphicFramePr>
        <p:xfrm>
          <a:off x="6245353" y="4407409"/>
          <a:ext cx="5071870" cy="24505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1502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ABAD-6E8D-B3ED-68AC-942789D9EBC5}"/>
              </a:ext>
            </a:extLst>
          </p:cNvPr>
          <p:cNvSpPr>
            <a:spLocks noGrp="1"/>
          </p:cNvSpPr>
          <p:nvPr>
            <p:ph type="title"/>
          </p:nvPr>
        </p:nvSpPr>
        <p:spPr/>
        <p:txBody>
          <a:bodyPr/>
          <a:lstStyle/>
          <a:p>
            <a:r>
              <a:rPr lang="en-GB" noProof="0" dirty="0"/>
              <a:t>Price–Volume Trade-offs Across Product Sizes - interpretation (1)</a:t>
            </a:r>
          </a:p>
        </p:txBody>
      </p:sp>
      <p:sp>
        <p:nvSpPr>
          <p:cNvPr id="3" name="Content Placeholder 2">
            <a:extLst>
              <a:ext uri="{FF2B5EF4-FFF2-40B4-BE49-F238E27FC236}">
                <a16:creationId xmlns:a16="http://schemas.microsoft.com/office/drawing/2014/main" id="{A529DE68-25DF-6360-A3F9-E1B6C7CB57C5}"/>
              </a:ext>
            </a:extLst>
          </p:cNvPr>
          <p:cNvSpPr>
            <a:spLocks noGrp="1"/>
          </p:cNvSpPr>
          <p:nvPr>
            <p:ph idx="1"/>
          </p:nvPr>
        </p:nvSpPr>
        <p:spPr/>
        <p:txBody>
          <a:bodyPr>
            <a:normAutofit fontScale="77500" lnSpcReduction="20000"/>
          </a:bodyPr>
          <a:lstStyle/>
          <a:p>
            <a:pPr marL="0" indent="0">
              <a:buNone/>
            </a:pPr>
            <a:r>
              <a:rPr lang="en-GB" noProof="0" dirty="0"/>
              <a:t>Analysis Report:</a:t>
            </a:r>
          </a:p>
          <a:p>
            <a:pPr marL="0" indent="0" algn="just">
              <a:buNone/>
            </a:pPr>
            <a:r>
              <a:rPr lang="en-GB" noProof="0" dirty="0"/>
              <a:t>The analysis reveals a clear trade-off between price and volume across coffee types. Arabica achieves the highest sales volume (~945 units) at a mid-range price (~$12/unit), indicating strong mass-market appeal. In contrast, </a:t>
            </a:r>
            <a:r>
              <a:rPr lang="en-GB" noProof="0" dirty="0" err="1"/>
              <a:t>Liberica</a:t>
            </a:r>
            <a:r>
              <a:rPr lang="en-GB" noProof="0" dirty="0"/>
              <a:t> commands the highest unit price (~$15/unit) but delivers the lowest volume (~850 units), suggesting premium positioning with lower demand elasticity. Excelsa and Robusta sit between these extremes, reflecting balanced price–demand dynamics. This highlights that moderate pricing drives higher unit sales, while premium pricing prioritises margin over volume.</a:t>
            </a:r>
          </a:p>
          <a:p>
            <a:pPr marL="0" indent="0" algn="just">
              <a:buNone/>
            </a:pPr>
            <a:r>
              <a:rPr lang="en-GB" noProof="0" dirty="0"/>
              <a:t>Pack size performance shows that larger packs dominate revenue generation. The 2.5 kg size contributes the largest share of total sales (~$24K), more than double the 1.0 kg packs (~$11K), while smaller sizes (0.5 kg and 0.2 kg) contribute progressively less. This indicates that bulk purchasing is a major revenue driver, likely fuelled by repeat buyers, wholesale customers, or heavy consumers, while smaller packs mainly serve entry-level or convenience buyers.</a:t>
            </a:r>
          </a:p>
          <a:p>
            <a:pPr marL="0" indent="0" algn="just">
              <a:buNone/>
            </a:pPr>
            <a:r>
              <a:rPr lang="en-GB" noProof="0" dirty="0"/>
              <a:t>Finally, the pricing–volume matrix confirms that high-price, high-volume products generate the greatest revenue (~$20K+), making them the most strategically valuable category. High-price/low-volume products still perform well but contribute less overall, while low-price segments generate substantially lower revenue. This suggests that optimising products that combine premium pricing with strong demand should be a central growth strategy, supported by targeted promotions, bundling, and pricing optimisation.</a:t>
            </a:r>
          </a:p>
        </p:txBody>
      </p:sp>
    </p:spTree>
    <p:extLst>
      <p:ext uri="{BB962C8B-B14F-4D97-AF65-F5344CB8AC3E}">
        <p14:creationId xmlns:p14="http://schemas.microsoft.com/office/powerpoint/2010/main" val="3127903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56878-49ED-B25C-FA4B-30CB770632A3}"/>
              </a:ext>
            </a:extLst>
          </p:cNvPr>
          <p:cNvSpPr>
            <a:spLocks noGrp="1"/>
          </p:cNvSpPr>
          <p:nvPr>
            <p:ph type="title"/>
          </p:nvPr>
        </p:nvSpPr>
        <p:spPr/>
        <p:txBody>
          <a:bodyPr/>
          <a:lstStyle/>
          <a:p>
            <a:r>
              <a:rPr lang="en-GB" noProof="0" dirty="0"/>
              <a:t>Price–Volume Trade-offs Across Product Sizes - interpretation (2)</a:t>
            </a:r>
          </a:p>
        </p:txBody>
      </p:sp>
      <p:sp>
        <p:nvSpPr>
          <p:cNvPr id="3" name="Content Placeholder 2">
            <a:extLst>
              <a:ext uri="{FF2B5EF4-FFF2-40B4-BE49-F238E27FC236}">
                <a16:creationId xmlns:a16="http://schemas.microsoft.com/office/drawing/2014/main" id="{62B4D351-8A8F-2D4C-D01C-D357A0293D06}"/>
              </a:ext>
            </a:extLst>
          </p:cNvPr>
          <p:cNvSpPr>
            <a:spLocks noGrp="1"/>
          </p:cNvSpPr>
          <p:nvPr>
            <p:ph idx="1"/>
          </p:nvPr>
        </p:nvSpPr>
        <p:spPr/>
        <p:txBody>
          <a:bodyPr/>
          <a:lstStyle/>
          <a:p>
            <a:pPr marL="0" indent="0">
              <a:buNone/>
            </a:pPr>
            <a:r>
              <a:rPr lang="en-GB" noProof="0" dirty="0"/>
              <a:t>Key Insights:</a:t>
            </a:r>
          </a:p>
          <a:p>
            <a:pPr algn="just">
              <a:buFont typeface="Wingdings" panose="05000000000000000000" pitchFamily="2" charset="2"/>
              <a:buChar char="Ø"/>
            </a:pPr>
            <a:r>
              <a:rPr lang="en-GB" noProof="0" dirty="0"/>
              <a:t> Mid-range priced products drive the highest sales volume (~945 units), showing strong mass-market demand.</a:t>
            </a:r>
          </a:p>
          <a:p>
            <a:pPr algn="just">
              <a:buFont typeface="Wingdings" panose="05000000000000000000" pitchFamily="2" charset="2"/>
              <a:buChar char="Ø"/>
            </a:pPr>
            <a:r>
              <a:rPr lang="en-GB" noProof="0" dirty="0"/>
              <a:t> Premium-priced products achieve higher unit margins (~$15/unit) but lower volumes (~850 units), indicating selective, value-driven demand.</a:t>
            </a:r>
          </a:p>
          <a:p>
            <a:pPr algn="just">
              <a:buFont typeface="Wingdings" panose="05000000000000000000" pitchFamily="2" charset="2"/>
              <a:buChar char="Ø"/>
            </a:pPr>
            <a:r>
              <a:rPr lang="en-GB" noProof="0" dirty="0"/>
              <a:t> Large pack sizes (2.5 kg) dominate revenue contribution (~$24K, over 40% of total sales), confirming bulk purchasing as the primary revenue engine.</a:t>
            </a:r>
          </a:p>
          <a:p>
            <a:pPr algn="just">
              <a:buFont typeface="Wingdings" panose="05000000000000000000" pitchFamily="2" charset="2"/>
              <a:buChar char="Ø"/>
            </a:pPr>
            <a:r>
              <a:rPr lang="en-GB" noProof="0" dirty="0"/>
              <a:t> High-price, high-volume products generate the highest total revenue (~$20K+), making them the most commercially impactful category.</a:t>
            </a:r>
          </a:p>
          <a:p>
            <a:endParaRPr lang="en-GB" noProof="0" dirty="0"/>
          </a:p>
        </p:txBody>
      </p:sp>
    </p:spTree>
    <p:extLst>
      <p:ext uri="{BB962C8B-B14F-4D97-AF65-F5344CB8AC3E}">
        <p14:creationId xmlns:p14="http://schemas.microsoft.com/office/powerpoint/2010/main" val="1610853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453C9-0F66-116B-7C14-2EC4AB46953D}"/>
              </a:ext>
            </a:extLst>
          </p:cNvPr>
          <p:cNvSpPr>
            <a:spLocks noGrp="1"/>
          </p:cNvSpPr>
          <p:nvPr>
            <p:ph type="title"/>
          </p:nvPr>
        </p:nvSpPr>
        <p:spPr/>
        <p:txBody>
          <a:bodyPr/>
          <a:lstStyle/>
          <a:p>
            <a:r>
              <a:rPr lang="en-GB" noProof="0" dirty="0"/>
              <a:t>Price–Volume Trade-offs Across Product Sizes - interpretation (3)</a:t>
            </a:r>
          </a:p>
        </p:txBody>
      </p:sp>
      <p:sp>
        <p:nvSpPr>
          <p:cNvPr id="3" name="Content Placeholder 2">
            <a:extLst>
              <a:ext uri="{FF2B5EF4-FFF2-40B4-BE49-F238E27FC236}">
                <a16:creationId xmlns:a16="http://schemas.microsoft.com/office/drawing/2014/main" id="{3E9A2152-B7A9-C3D6-694E-535BE43FECD0}"/>
              </a:ext>
            </a:extLst>
          </p:cNvPr>
          <p:cNvSpPr>
            <a:spLocks noGrp="1"/>
          </p:cNvSpPr>
          <p:nvPr>
            <p:ph idx="1"/>
          </p:nvPr>
        </p:nvSpPr>
        <p:spPr/>
        <p:txBody>
          <a:bodyPr/>
          <a:lstStyle/>
          <a:p>
            <a:pPr marL="0" indent="0">
              <a:buNone/>
            </a:pPr>
            <a:r>
              <a:rPr lang="en-GB" noProof="0" dirty="0"/>
              <a:t>Business Implications:</a:t>
            </a:r>
          </a:p>
          <a:p>
            <a:pPr algn="just">
              <a:buFont typeface="Wingdings" panose="05000000000000000000" pitchFamily="2" charset="2"/>
              <a:buChar char="Ø"/>
            </a:pPr>
            <a:r>
              <a:rPr lang="en-GB" noProof="0" dirty="0"/>
              <a:t> Revenue growth is not purely volume-driven; it depends on optimising price–volume balance.</a:t>
            </a:r>
          </a:p>
          <a:p>
            <a:pPr algn="just">
              <a:buFont typeface="Wingdings" panose="05000000000000000000" pitchFamily="2" charset="2"/>
              <a:buChar char="Ø"/>
            </a:pPr>
            <a:r>
              <a:rPr lang="en-GB" noProof="0" dirty="0"/>
              <a:t> Bulk formats are critical profit drivers, suggesting strong loyalty and repeat-purchase behaviour.</a:t>
            </a:r>
          </a:p>
          <a:p>
            <a:pPr algn="just">
              <a:buFont typeface="Wingdings" panose="05000000000000000000" pitchFamily="2" charset="2"/>
              <a:buChar char="Ø"/>
            </a:pPr>
            <a:r>
              <a:rPr lang="en-GB" noProof="0" dirty="0"/>
              <a:t> Premium pricing can succeed when paired with strong perceived value and demand, particularly in differentiated coffee types.</a:t>
            </a:r>
          </a:p>
          <a:p>
            <a:pPr algn="just">
              <a:buFont typeface="Wingdings" panose="05000000000000000000" pitchFamily="2" charset="2"/>
              <a:buChar char="Ø"/>
            </a:pPr>
            <a:r>
              <a:rPr lang="en-GB" noProof="0" dirty="0"/>
              <a:t> Smaller pack sizes play a supporting role for trial, accessibility, and entry-level engagement rather than core revenue generation.</a:t>
            </a:r>
          </a:p>
        </p:txBody>
      </p:sp>
    </p:spTree>
    <p:extLst>
      <p:ext uri="{BB962C8B-B14F-4D97-AF65-F5344CB8AC3E}">
        <p14:creationId xmlns:p14="http://schemas.microsoft.com/office/powerpoint/2010/main" val="2579265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7786-1FD4-75AA-369C-F8D03D938BB1}"/>
              </a:ext>
            </a:extLst>
          </p:cNvPr>
          <p:cNvSpPr>
            <a:spLocks noGrp="1"/>
          </p:cNvSpPr>
          <p:nvPr>
            <p:ph type="title"/>
          </p:nvPr>
        </p:nvSpPr>
        <p:spPr/>
        <p:txBody>
          <a:bodyPr/>
          <a:lstStyle/>
          <a:p>
            <a:r>
              <a:rPr lang="en-GB" noProof="0" dirty="0"/>
              <a:t>Price–Volume Trade-offs Across Product Sizes - interpretation (4)</a:t>
            </a:r>
          </a:p>
        </p:txBody>
      </p:sp>
      <p:sp>
        <p:nvSpPr>
          <p:cNvPr id="3" name="Content Placeholder 2">
            <a:extLst>
              <a:ext uri="{FF2B5EF4-FFF2-40B4-BE49-F238E27FC236}">
                <a16:creationId xmlns:a16="http://schemas.microsoft.com/office/drawing/2014/main" id="{85C4245B-0F95-64A1-7109-63F4D4BBD2C2}"/>
              </a:ext>
            </a:extLst>
          </p:cNvPr>
          <p:cNvSpPr>
            <a:spLocks noGrp="1"/>
          </p:cNvSpPr>
          <p:nvPr>
            <p:ph idx="1"/>
          </p:nvPr>
        </p:nvSpPr>
        <p:spPr/>
        <p:txBody>
          <a:bodyPr/>
          <a:lstStyle/>
          <a:p>
            <a:pPr marL="0" indent="0">
              <a:buNone/>
            </a:pPr>
            <a:r>
              <a:rPr lang="en-GB" noProof="0" dirty="0"/>
              <a:t>Recommended Strategic Actions:</a:t>
            </a:r>
          </a:p>
          <a:p>
            <a:pPr algn="just">
              <a:buFont typeface="Wingdings" panose="05000000000000000000" pitchFamily="2" charset="2"/>
              <a:buChar char="Ø"/>
            </a:pPr>
            <a:r>
              <a:rPr lang="en-GB" noProof="0" dirty="0"/>
              <a:t> Prioritise high-price, high-volume Stock Keeping Units (SKU) through targeted promotions, preferred shelf placement, and availability optimisation.</a:t>
            </a:r>
          </a:p>
          <a:p>
            <a:pPr algn="just">
              <a:buFont typeface="Wingdings" panose="05000000000000000000" pitchFamily="2" charset="2"/>
              <a:buChar char="Ø"/>
            </a:pPr>
            <a:r>
              <a:rPr lang="en-GB" noProof="0" dirty="0"/>
              <a:t> Expand bulk pack incentives (e.g., subscriptions, loyalty multipliers, bundle discounts) to reinforce repeat purchasing.</a:t>
            </a:r>
          </a:p>
          <a:p>
            <a:pPr algn="just">
              <a:buFont typeface="Wingdings" panose="05000000000000000000" pitchFamily="2" charset="2"/>
              <a:buChar char="Ø"/>
            </a:pPr>
            <a:r>
              <a:rPr lang="en-GB" noProof="0" dirty="0"/>
              <a:t> Refine pricing strategy by product tier, protecting premium margins while using mid-tier products to drive scale.</a:t>
            </a:r>
          </a:p>
          <a:p>
            <a:pPr algn="just">
              <a:buFont typeface="Wingdings" panose="05000000000000000000" pitchFamily="2" charset="2"/>
              <a:buChar char="Ø"/>
            </a:pPr>
            <a:r>
              <a:rPr lang="en-GB" noProof="0" dirty="0"/>
              <a:t> Leverage smaller packs as acquisition tools, focusing on sampling, onboarding, and upsell pathways into larger formats.</a:t>
            </a:r>
          </a:p>
        </p:txBody>
      </p:sp>
    </p:spTree>
    <p:extLst>
      <p:ext uri="{BB962C8B-B14F-4D97-AF65-F5344CB8AC3E}">
        <p14:creationId xmlns:p14="http://schemas.microsoft.com/office/powerpoint/2010/main" val="3701499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9E30-4E8D-F597-67B5-4A067AFA6B06}"/>
              </a:ext>
            </a:extLst>
          </p:cNvPr>
          <p:cNvSpPr>
            <a:spLocks noGrp="1"/>
          </p:cNvSpPr>
          <p:nvPr>
            <p:ph type="title"/>
          </p:nvPr>
        </p:nvSpPr>
        <p:spPr/>
        <p:txBody>
          <a:bodyPr/>
          <a:lstStyle/>
          <a:p>
            <a:r>
              <a:rPr lang="en-GB" noProof="0" dirty="0"/>
              <a:t>How Sales Evolve: Growth Trends &amp; Seasonal Coffee Patterns - relevance</a:t>
            </a:r>
          </a:p>
        </p:txBody>
      </p:sp>
      <p:sp>
        <p:nvSpPr>
          <p:cNvPr id="3" name="Content Placeholder 2">
            <a:extLst>
              <a:ext uri="{FF2B5EF4-FFF2-40B4-BE49-F238E27FC236}">
                <a16:creationId xmlns:a16="http://schemas.microsoft.com/office/drawing/2014/main" id="{D8C63170-0D2F-5127-C41A-C7590F132C7F}"/>
              </a:ext>
            </a:extLst>
          </p:cNvPr>
          <p:cNvSpPr>
            <a:spLocks noGrp="1"/>
          </p:cNvSpPr>
          <p:nvPr>
            <p:ph idx="1"/>
          </p:nvPr>
        </p:nvSpPr>
        <p:spPr/>
        <p:txBody>
          <a:bodyPr/>
          <a:lstStyle/>
          <a:p>
            <a:pPr algn="just"/>
            <a:r>
              <a:rPr lang="en-GB" noProof="0" dirty="0"/>
              <a:t>Understanding key sales trends over time and identifying seasonal patterns by coffee and roast type is critical for optimising inventory planning, marketing timing, and revenue forecasting. By analysing how demand fluctuates across months and years, the coffee retail business can anticipate peak periods, reduce stockouts and excess inventory, and align promotions with customer purchasing behaviour. Seasonality insights also enable targeted product positioning, ensuring that the right coffee varieties and roast profiles are emphasised during high-demand periods. Ultimately, this type of analysis can support more agile decision-making, improve operational efficiency, and drive sustained revenue growth by matching supply, pricing, and marketing strategies to evolving customer demand patterns.</a:t>
            </a:r>
          </a:p>
        </p:txBody>
      </p:sp>
    </p:spTree>
    <p:extLst>
      <p:ext uri="{BB962C8B-B14F-4D97-AF65-F5344CB8AC3E}">
        <p14:creationId xmlns:p14="http://schemas.microsoft.com/office/powerpoint/2010/main" val="2738388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18936-1FCD-9A74-82F7-233C8C2B41E6}"/>
              </a:ext>
            </a:extLst>
          </p:cNvPr>
          <p:cNvSpPr>
            <a:spLocks noGrp="1"/>
          </p:cNvSpPr>
          <p:nvPr>
            <p:ph type="title"/>
          </p:nvPr>
        </p:nvSpPr>
        <p:spPr>
          <a:xfrm>
            <a:off x="1024128" y="0"/>
            <a:ext cx="9720072" cy="1499616"/>
          </a:xfrm>
        </p:spPr>
        <p:txBody>
          <a:bodyPr/>
          <a:lstStyle/>
          <a:p>
            <a:r>
              <a:rPr lang="en-GB" noProof="0" dirty="0"/>
              <a:t>How Sales Evolve: Growth Trends &amp; Seasonal Coffee Patterns - Visualisations</a:t>
            </a:r>
          </a:p>
        </p:txBody>
      </p:sp>
      <p:graphicFrame>
        <p:nvGraphicFramePr>
          <p:cNvPr id="4" name="Table 3">
            <a:extLst>
              <a:ext uri="{FF2B5EF4-FFF2-40B4-BE49-F238E27FC236}">
                <a16:creationId xmlns:a16="http://schemas.microsoft.com/office/drawing/2014/main" id="{CBBAB61E-A175-2256-A727-1BAE6D6A787D}"/>
              </a:ext>
            </a:extLst>
          </p:cNvPr>
          <p:cNvGraphicFramePr>
            <a:graphicFrameLocks noGrp="1"/>
          </p:cNvGraphicFramePr>
          <p:nvPr>
            <p:extLst>
              <p:ext uri="{D42A27DB-BD31-4B8C-83A1-F6EECF244321}">
                <p14:modId xmlns:p14="http://schemas.microsoft.com/office/powerpoint/2010/main" val="1228321323"/>
              </p:ext>
            </p:extLst>
          </p:nvPr>
        </p:nvGraphicFramePr>
        <p:xfrm>
          <a:off x="837014" y="-32189294"/>
          <a:ext cx="5396209" cy="4022733"/>
        </p:xfrm>
        <a:graphic>
          <a:graphicData uri="http://schemas.openxmlformats.org/drawingml/2006/table">
            <a:tbl>
              <a:tblPr>
                <a:tableStyleId>{5C22544A-7EE6-4342-B048-85BDC9FD1C3A}</a:tableStyleId>
              </a:tblPr>
              <a:tblGrid>
                <a:gridCol w="284011">
                  <a:extLst>
                    <a:ext uri="{9D8B030D-6E8A-4147-A177-3AD203B41FA5}">
                      <a16:colId xmlns:a16="http://schemas.microsoft.com/office/drawing/2014/main" val="3025654160"/>
                    </a:ext>
                  </a:extLst>
                </a:gridCol>
                <a:gridCol w="284011">
                  <a:extLst>
                    <a:ext uri="{9D8B030D-6E8A-4147-A177-3AD203B41FA5}">
                      <a16:colId xmlns:a16="http://schemas.microsoft.com/office/drawing/2014/main" val="2464106360"/>
                    </a:ext>
                  </a:extLst>
                </a:gridCol>
                <a:gridCol w="284011">
                  <a:extLst>
                    <a:ext uri="{9D8B030D-6E8A-4147-A177-3AD203B41FA5}">
                      <a16:colId xmlns:a16="http://schemas.microsoft.com/office/drawing/2014/main" val="1996825432"/>
                    </a:ext>
                  </a:extLst>
                </a:gridCol>
                <a:gridCol w="284011">
                  <a:extLst>
                    <a:ext uri="{9D8B030D-6E8A-4147-A177-3AD203B41FA5}">
                      <a16:colId xmlns:a16="http://schemas.microsoft.com/office/drawing/2014/main" val="100399844"/>
                    </a:ext>
                  </a:extLst>
                </a:gridCol>
                <a:gridCol w="284011">
                  <a:extLst>
                    <a:ext uri="{9D8B030D-6E8A-4147-A177-3AD203B41FA5}">
                      <a16:colId xmlns:a16="http://schemas.microsoft.com/office/drawing/2014/main" val="1451483078"/>
                    </a:ext>
                  </a:extLst>
                </a:gridCol>
                <a:gridCol w="284011">
                  <a:extLst>
                    <a:ext uri="{9D8B030D-6E8A-4147-A177-3AD203B41FA5}">
                      <a16:colId xmlns:a16="http://schemas.microsoft.com/office/drawing/2014/main" val="813787868"/>
                    </a:ext>
                  </a:extLst>
                </a:gridCol>
                <a:gridCol w="284011">
                  <a:extLst>
                    <a:ext uri="{9D8B030D-6E8A-4147-A177-3AD203B41FA5}">
                      <a16:colId xmlns:a16="http://schemas.microsoft.com/office/drawing/2014/main" val="1450743132"/>
                    </a:ext>
                  </a:extLst>
                </a:gridCol>
                <a:gridCol w="284011">
                  <a:extLst>
                    <a:ext uri="{9D8B030D-6E8A-4147-A177-3AD203B41FA5}">
                      <a16:colId xmlns:a16="http://schemas.microsoft.com/office/drawing/2014/main" val="3396668808"/>
                    </a:ext>
                  </a:extLst>
                </a:gridCol>
                <a:gridCol w="284011">
                  <a:extLst>
                    <a:ext uri="{9D8B030D-6E8A-4147-A177-3AD203B41FA5}">
                      <a16:colId xmlns:a16="http://schemas.microsoft.com/office/drawing/2014/main" val="790750252"/>
                    </a:ext>
                  </a:extLst>
                </a:gridCol>
                <a:gridCol w="284011">
                  <a:extLst>
                    <a:ext uri="{9D8B030D-6E8A-4147-A177-3AD203B41FA5}">
                      <a16:colId xmlns:a16="http://schemas.microsoft.com/office/drawing/2014/main" val="2703280279"/>
                    </a:ext>
                  </a:extLst>
                </a:gridCol>
                <a:gridCol w="284011">
                  <a:extLst>
                    <a:ext uri="{9D8B030D-6E8A-4147-A177-3AD203B41FA5}">
                      <a16:colId xmlns:a16="http://schemas.microsoft.com/office/drawing/2014/main" val="2217495315"/>
                    </a:ext>
                  </a:extLst>
                </a:gridCol>
                <a:gridCol w="284011">
                  <a:extLst>
                    <a:ext uri="{9D8B030D-6E8A-4147-A177-3AD203B41FA5}">
                      <a16:colId xmlns:a16="http://schemas.microsoft.com/office/drawing/2014/main" val="2785738176"/>
                    </a:ext>
                  </a:extLst>
                </a:gridCol>
                <a:gridCol w="284011">
                  <a:extLst>
                    <a:ext uri="{9D8B030D-6E8A-4147-A177-3AD203B41FA5}">
                      <a16:colId xmlns:a16="http://schemas.microsoft.com/office/drawing/2014/main" val="548660291"/>
                    </a:ext>
                  </a:extLst>
                </a:gridCol>
                <a:gridCol w="284011">
                  <a:extLst>
                    <a:ext uri="{9D8B030D-6E8A-4147-A177-3AD203B41FA5}">
                      <a16:colId xmlns:a16="http://schemas.microsoft.com/office/drawing/2014/main" val="3331968908"/>
                    </a:ext>
                  </a:extLst>
                </a:gridCol>
                <a:gridCol w="284011">
                  <a:extLst>
                    <a:ext uri="{9D8B030D-6E8A-4147-A177-3AD203B41FA5}">
                      <a16:colId xmlns:a16="http://schemas.microsoft.com/office/drawing/2014/main" val="311386705"/>
                    </a:ext>
                  </a:extLst>
                </a:gridCol>
                <a:gridCol w="284011">
                  <a:extLst>
                    <a:ext uri="{9D8B030D-6E8A-4147-A177-3AD203B41FA5}">
                      <a16:colId xmlns:a16="http://schemas.microsoft.com/office/drawing/2014/main" val="1609780760"/>
                    </a:ext>
                  </a:extLst>
                </a:gridCol>
                <a:gridCol w="284011">
                  <a:extLst>
                    <a:ext uri="{9D8B030D-6E8A-4147-A177-3AD203B41FA5}">
                      <a16:colId xmlns:a16="http://schemas.microsoft.com/office/drawing/2014/main" val="165927809"/>
                    </a:ext>
                  </a:extLst>
                </a:gridCol>
                <a:gridCol w="284011">
                  <a:extLst>
                    <a:ext uri="{9D8B030D-6E8A-4147-A177-3AD203B41FA5}">
                      <a16:colId xmlns:a16="http://schemas.microsoft.com/office/drawing/2014/main" val="889191303"/>
                    </a:ext>
                  </a:extLst>
                </a:gridCol>
                <a:gridCol w="284011">
                  <a:extLst>
                    <a:ext uri="{9D8B030D-6E8A-4147-A177-3AD203B41FA5}">
                      <a16:colId xmlns:a16="http://schemas.microsoft.com/office/drawing/2014/main" val="3421155790"/>
                    </a:ext>
                  </a:extLst>
                </a:gridCol>
              </a:tblGrid>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9663338"/>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3552650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20983196"/>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404061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67636772"/>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61394076"/>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77750355"/>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1738494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43900822"/>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30045566"/>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24389213"/>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63038165"/>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485688388"/>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36406243"/>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5441646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38854777"/>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4210682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82744512"/>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62990254"/>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5580085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820146154"/>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88893382"/>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50427882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0979565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171254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8708903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16954486"/>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28001673"/>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15608203"/>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8602334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951182142"/>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22862709"/>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61046348"/>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91411050"/>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541631351"/>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49818533"/>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25198845"/>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691098837"/>
                  </a:ext>
                </a:extLst>
              </a:tr>
              <a:tr h="103147">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tc>
                  <a:txBody>
                    <a:bodyPr/>
                    <a:lstStyle/>
                    <a:p>
                      <a:pPr algn="l" fontAlgn="b">
                        <a:buNone/>
                      </a:pPr>
                      <a:endParaRPr lang="en-GB" sz="600" b="0" i="0" u="none" strike="noStrike" noProof="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42083673"/>
                  </a:ext>
                </a:extLst>
              </a:tr>
            </a:tbl>
          </a:graphicData>
        </a:graphic>
      </p:graphicFrame>
      <p:graphicFrame>
        <p:nvGraphicFramePr>
          <p:cNvPr id="5" name="Chart 4">
            <a:extLst>
              <a:ext uri="{FF2B5EF4-FFF2-40B4-BE49-F238E27FC236}">
                <a16:creationId xmlns:a16="http://schemas.microsoft.com/office/drawing/2014/main" id="{469D0120-EFF8-4096-B5DF-8519380FF518}"/>
              </a:ext>
            </a:extLst>
          </p:cNvPr>
          <p:cNvGraphicFramePr>
            <a:graphicFrameLocks/>
          </p:cNvGraphicFramePr>
          <p:nvPr>
            <p:extLst>
              <p:ext uri="{D42A27DB-BD31-4B8C-83A1-F6EECF244321}">
                <p14:modId xmlns:p14="http://schemas.microsoft.com/office/powerpoint/2010/main" val="1221272292"/>
              </p:ext>
            </p:extLst>
          </p:nvPr>
        </p:nvGraphicFramePr>
        <p:xfrm>
          <a:off x="1024128" y="1499616"/>
          <a:ext cx="5071872" cy="268445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A40657E6-7B69-4619-947D-E101968D13DC}"/>
              </a:ext>
            </a:extLst>
          </p:cNvPr>
          <p:cNvGraphicFramePr>
            <a:graphicFrameLocks/>
          </p:cNvGraphicFramePr>
          <p:nvPr>
            <p:extLst>
              <p:ext uri="{D42A27DB-BD31-4B8C-83A1-F6EECF244321}">
                <p14:modId xmlns:p14="http://schemas.microsoft.com/office/powerpoint/2010/main" val="1638039176"/>
              </p:ext>
            </p:extLst>
          </p:nvPr>
        </p:nvGraphicFramePr>
        <p:xfrm>
          <a:off x="6233223" y="1499616"/>
          <a:ext cx="4510977" cy="26844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3CBE4B81-D132-4C7D-98E5-381357C1DBA7}"/>
              </a:ext>
            </a:extLst>
          </p:cNvPr>
          <p:cNvGraphicFramePr>
            <a:graphicFrameLocks/>
          </p:cNvGraphicFramePr>
          <p:nvPr>
            <p:extLst>
              <p:ext uri="{D42A27DB-BD31-4B8C-83A1-F6EECF244321}">
                <p14:modId xmlns:p14="http://schemas.microsoft.com/office/powerpoint/2010/main" val="1614848504"/>
              </p:ext>
            </p:extLst>
          </p:nvPr>
        </p:nvGraphicFramePr>
        <p:xfrm>
          <a:off x="1024128" y="4285673"/>
          <a:ext cx="5086897" cy="257232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C47655BF-461D-4296-9A44-70E9101E5B87}"/>
              </a:ext>
            </a:extLst>
          </p:cNvPr>
          <p:cNvGraphicFramePr>
            <a:graphicFrameLocks/>
          </p:cNvGraphicFramePr>
          <p:nvPr>
            <p:extLst>
              <p:ext uri="{D42A27DB-BD31-4B8C-83A1-F6EECF244321}">
                <p14:modId xmlns:p14="http://schemas.microsoft.com/office/powerpoint/2010/main" val="3976008497"/>
              </p:ext>
            </p:extLst>
          </p:nvPr>
        </p:nvGraphicFramePr>
        <p:xfrm>
          <a:off x="6233223" y="4285673"/>
          <a:ext cx="4510977" cy="257232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90340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C3D15-C1FC-39F5-194F-30028FA4FFE3}"/>
              </a:ext>
            </a:extLst>
          </p:cNvPr>
          <p:cNvSpPr>
            <a:spLocks noGrp="1"/>
          </p:cNvSpPr>
          <p:nvPr>
            <p:ph type="title"/>
          </p:nvPr>
        </p:nvSpPr>
        <p:spPr/>
        <p:txBody>
          <a:bodyPr>
            <a:normAutofit fontScale="90000"/>
          </a:bodyPr>
          <a:lstStyle/>
          <a:p>
            <a:r>
              <a:rPr lang="en-GB" noProof="0" dirty="0"/>
              <a:t>How Sales Evolve: Growth Trends &amp; Seasonal Coffee Patterns - INTERPRETATION (1)</a:t>
            </a:r>
          </a:p>
        </p:txBody>
      </p:sp>
      <p:sp>
        <p:nvSpPr>
          <p:cNvPr id="3" name="Content Placeholder 2">
            <a:extLst>
              <a:ext uri="{FF2B5EF4-FFF2-40B4-BE49-F238E27FC236}">
                <a16:creationId xmlns:a16="http://schemas.microsoft.com/office/drawing/2014/main" id="{DE5689AF-461B-4CDA-8B10-1196FE0EA7BE}"/>
              </a:ext>
            </a:extLst>
          </p:cNvPr>
          <p:cNvSpPr>
            <a:spLocks noGrp="1"/>
          </p:cNvSpPr>
          <p:nvPr>
            <p:ph idx="1"/>
          </p:nvPr>
        </p:nvSpPr>
        <p:spPr/>
        <p:txBody>
          <a:bodyPr>
            <a:normAutofit fontScale="77500" lnSpcReduction="20000"/>
          </a:bodyPr>
          <a:lstStyle/>
          <a:p>
            <a:pPr marL="0" indent="0" algn="just">
              <a:buNone/>
            </a:pPr>
            <a:r>
              <a:rPr lang="en-GB" noProof="0" dirty="0"/>
              <a:t>Analysis Report:</a:t>
            </a:r>
          </a:p>
          <a:p>
            <a:pPr marL="0" indent="0" algn="just">
              <a:buNone/>
            </a:pPr>
            <a:r>
              <a:rPr lang="en-GB" noProof="0" dirty="0"/>
              <a:t>The data shows a strong multi-year growth trajectory from 2019 (~$12K) to 2021 (~$14K, +17%), followed by a sharp contraction in 2022 (~$7K, –50% YoY). Arabica and Excelsa were the primary growth drivers through 2021, with Arabica peaking near $4.1K and Excelsa near $3.6K. In contrast, all coffee types experienced a synchronized decline in 2022, with Arabica falling to ~$1.5K, Excelsa to ~$1.7K, and </a:t>
            </a:r>
            <a:r>
              <a:rPr lang="en-GB" noProof="0" dirty="0" err="1"/>
              <a:t>Liberica</a:t>
            </a:r>
            <a:r>
              <a:rPr lang="en-GB" noProof="0" dirty="0"/>
              <a:t> to ~$2.2K, implying a systemic demand or supply-side disruption rather than product-specific weakness.</a:t>
            </a:r>
          </a:p>
          <a:p>
            <a:pPr marL="0" indent="0" algn="just">
              <a:buNone/>
            </a:pPr>
            <a:r>
              <a:rPr lang="en-GB" noProof="0" dirty="0"/>
              <a:t>Quarterly performance shows clear seasonality and volatility by coffee type. Second quarter is consistently the strongest quarter, led by Excelsa at ~$4.1K, followed by Arabica at ~$2.8K and Robusta at ~$2.4K. In contrast, fourth quarter is weaker, particularly for Robusta (~$1.5K) and Arabica (~$2.9K). </a:t>
            </a:r>
            <a:r>
              <a:rPr lang="en-GB" noProof="0" dirty="0" err="1"/>
              <a:t>Liberica</a:t>
            </a:r>
            <a:r>
              <a:rPr lang="en-GB" noProof="0" dirty="0"/>
              <a:t> demonstrates higher volatility, dropping sharply from ~$4.0K in first quarter to ~$1.8K in third quarter, highlighting sensitivity to both seasonal consumption shifts and potential supply constraints.</a:t>
            </a:r>
          </a:p>
          <a:p>
            <a:pPr marL="0" indent="0" algn="just">
              <a:buNone/>
            </a:pPr>
            <a:r>
              <a:rPr lang="en-GB" noProof="0" dirty="0"/>
              <a:t>Seasonal analysis shows Spring and Summer consistently outperform Autumn and Winter across nearly all roast profiles. Robusta-Medium peaks at ~$12.2K in Spring, while </a:t>
            </a:r>
            <a:r>
              <a:rPr lang="en-GB" noProof="0" dirty="0" err="1"/>
              <a:t>Liberica</a:t>
            </a:r>
            <a:r>
              <a:rPr lang="en-GB" noProof="0" dirty="0"/>
              <a:t>-Medium reaches ~$11.8K, indicating strong warm-season demand for medium roasts. Conversely, darker roasts exhibit stronger relative performance in colder seasons, with </a:t>
            </a:r>
            <a:r>
              <a:rPr lang="en-GB" noProof="0" dirty="0" err="1"/>
              <a:t>Liberica</a:t>
            </a:r>
            <a:r>
              <a:rPr lang="en-GB" noProof="0" dirty="0"/>
              <a:t>-Dark and Arabica-Dark maintaining higher Winter sales (~$9K–$10K range) versus lighter roasts. This reveals distinct seasonal consumption patterns by roast type, suggesting customers shift toward lighter profiles in warmer months and darker profiles during colder periods.</a:t>
            </a:r>
          </a:p>
        </p:txBody>
      </p:sp>
    </p:spTree>
    <p:extLst>
      <p:ext uri="{BB962C8B-B14F-4D97-AF65-F5344CB8AC3E}">
        <p14:creationId xmlns:p14="http://schemas.microsoft.com/office/powerpoint/2010/main" val="268209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39D3-C395-1D47-8E8F-5FE5FAB2C1B1}"/>
              </a:ext>
            </a:extLst>
          </p:cNvPr>
          <p:cNvSpPr>
            <a:spLocks noGrp="1"/>
          </p:cNvSpPr>
          <p:nvPr>
            <p:ph type="title"/>
          </p:nvPr>
        </p:nvSpPr>
        <p:spPr/>
        <p:txBody>
          <a:bodyPr>
            <a:normAutofit fontScale="90000"/>
          </a:bodyPr>
          <a:lstStyle/>
          <a:p>
            <a:r>
              <a:rPr lang="en-GB" noProof="0" dirty="0"/>
              <a:t>How Sales Evolve: Growth Trends &amp; Seasonal Coffee Patterns - INTERPRETATION (2)</a:t>
            </a:r>
          </a:p>
        </p:txBody>
      </p:sp>
      <p:sp>
        <p:nvSpPr>
          <p:cNvPr id="3" name="Content Placeholder 2">
            <a:extLst>
              <a:ext uri="{FF2B5EF4-FFF2-40B4-BE49-F238E27FC236}">
                <a16:creationId xmlns:a16="http://schemas.microsoft.com/office/drawing/2014/main" id="{3EFAC771-41A0-FE0F-09A4-01F472B8BB50}"/>
              </a:ext>
            </a:extLst>
          </p:cNvPr>
          <p:cNvSpPr>
            <a:spLocks noGrp="1"/>
          </p:cNvSpPr>
          <p:nvPr>
            <p:ph idx="1"/>
          </p:nvPr>
        </p:nvSpPr>
        <p:spPr/>
        <p:txBody>
          <a:bodyPr>
            <a:normAutofit lnSpcReduction="10000"/>
          </a:bodyPr>
          <a:lstStyle/>
          <a:p>
            <a:pPr marL="0" indent="0" algn="just">
              <a:buNone/>
            </a:pPr>
            <a:r>
              <a:rPr lang="en-GB" noProof="0" dirty="0"/>
              <a:t>Key Insights:</a:t>
            </a:r>
          </a:p>
          <a:p>
            <a:pPr algn="just">
              <a:buFont typeface="Wingdings" panose="05000000000000000000" pitchFamily="2" charset="2"/>
              <a:buChar char="Ø"/>
            </a:pPr>
            <a:r>
              <a:rPr lang="en-GB" noProof="0" dirty="0"/>
              <a:t> Sales are highly cyclical, peaking in second quarter and Spring/Summer and weakening in fourth quarter and Winter.</a:t>
            </a:r>
          </a:p>
          <a:p>
            <a:pPr algn="just">
              <a:buFont typeface="Wingdings" panose="05000000000000000000" pitchFamily="2" charset="2"/>
              <a:buChar char="Ø"/>
            </a:pPr>
            <a:r>
              <a:rPr lang="en-GB" noProof="0" dirty="0"/>
              <a:t> The ~50% revenue collapse in 2022 represents a material business risk and likely reflects macroeconomic, pricing, or supply-chain disruption rather than product mix changes.</a:t>
            </a:r>
          </a:p>
          <a:p>
            <a:pPr algn="just">
              <a:buFont typeface="Wingdings" panose="05000000000000000000" pitchFamily="2" charset="2"/>
              <a:buChar char="Ø"/>
            </a:pPr>
            <a:r>
              <a:rPr lang="en-GB" noProof="0" dirty="0"/>
              <a:t> Medium and light roasts drive warm-season growth, while dark roasts provide seasonal stability in colder months.</a:t>
            </a:r>
          </a:p>
          <a:p>
            <a:pPr algn="just">
              <a:buFont typeface="Wingdings" panose="05000000000000000000" pitchFamily="2" charset="2"/>
              <a:buChar char="Ø"/>
            </a:pPr>
            <a:r>
              <a:rPr lang="en-GB" noProof="0" dirty="0"/>
              <a:t> Excelsa exhibits strong upside volatility, making it a high-impact lever for growth acceleration, while </a:t>
            </a:r>
            <a:r>
              <a:rPr lang="en-GB" noProof="0" dirty="0" err="1"/>
              <a:t>Liberica</a:t>
            </a:r>
            <a:r>
              <a:rPr lang="en-GB" noProof="0" dirty="0"/>
              <a:t> shows higher sales volatility, implying greater exposure to operational and supply risks.</a:t>
            </a:r>
          </a:p>
        </p:txBody>
      </p:sp>
    </p:spTree>
    <p:extLst>
      <p:ext uri="{BB962C8B-B14F-4D97-AF65-F5344CB8AC3E}">
        <p14:creationId xmlns:p14="http://schemas.microsoft.com/office/powerpoint/2010/main" val="15595236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0883-1BF2-E506-CD2C-538F1C270C8C}"/>
              </a:ext>
            </a:extLst>
          </p:cNvPr>
          <p:cNvSpPr>
            <a:spLocks noGrp="1"/>
          </p:cNvSpPr>
          <p:nvPr>
            <p:ph type="title"/>
          </p:nvPr>
        </p:nvSpPr>
        <p:spPr/>
        <p:txBody>
          <a:bodyPr>
            <a:normAutofit fontScale="90000"/>
          </a:bodyPr>
          <a:lstStyle/>
          <a:p>
            <a:r>
              <a:rPr lang="en-GB" noProof="0" dirty="0"/>
              <a:t>How Sales Evolve: Growth Trends &amp; Seasonal Coffee Patterns - INTERPRETATION (3)</a:t>
            </a:r>
          </a:p>
        </p:txBody>
      </p:sp>
      <p:sp>
        <p:nvSpPr>
          <p:cNvPr id="3" name="Content Placeholder 2">
            <a:extLst>
              <a:ext uri="{FF2B5EF4-FFF2-40B4-BE49-F238E27FC236}">
                <a16:creationId xmlns:a16="http://schemas.microsoft.com/office/drawing/2014/main" id="{4F54D96F-D8A3-7482-DB55-728AF104E8C9}"/>
              </a:ext>
            </a:extLst>
          </p:cNvPr>
          <p:cNvSpPr>
            <a:spLocks noGrp="1"/>
          </p:cNvSpPr>
          <p:nvPr>
            <p:ph idx="1"/>
          </p:nvPr>
        </p:nvSpPr>
        <p:spPr/>
        <p:txBody>
          <a:bodyPr/>
          <a:lstStyle/>
          <a:p>
            <a:pPr marL="0" indent="0">
              <a:buNone/>
            </a:pPr>
            <a:r>
              <a:rPr lang="en-GB" noProof="0" dirty="0"/>
              <a:t>Business Implications:</a:t>
            </a:r>
          </a:p>
          <a:p>
            <a:pPr>
              <a:buFont typeface="Wingdings" panose="05000000000000000000" pitchFamily="2" charset="2"/>
              <a:buChar char="Ø"/>
            </a:pPr>
            <a:r>
              <a:rPr lang="en-GB" noProof="0" dirty="0"/>
              <a:t> Revenue performance is structurally dependent on seasonality, requiring proactive planning rather than reactive forecasting.</a:t>
            </a:r>
          </a:p>
          <a:p>
            <a:pPr>
              <a:buFont typeface="Wingdings" panose="05000000000000000000" pitchFamily="2" charset="2"/>
              <a:buChar char="Ø"/>
            </a:pPr>
            <a:r>
              <a:rPr lang="en-GB" noProof="0" dirty="0"/>
              <a:t> The 2022 crises weakens financial resilience, increasing exposure to cost pressures and margin erosion.</a:t>
            </a:r>
          </a:p>
          <a:p>
            <a:pPr>
              <a:buFont typeface="Wingdings" panose="05000000000000000000" pitchFamily="2" charset="2"/>
              <a:buChar char="Ø"/>
            </a:pPr>
            <a:r>
              <a:rPr lang="en-GB" dirty="0"/>
              <a:t> </a:t>
            </a:r>
            <a:r>
              <a:rPr lang="en-US" dirty="0"/>
              <a:t>The fourth quarter seasonal dip creates revenue gaps, increasing earnings volatility and inventory inefficiencies.</a:t>
            </a:r>
            <a:endParaRPr lang="en-GB" noProof="0" dirty="0"/>
          </a:p>
          <a:p>
            <a:pPr>
              <a:buFont typeface="Wingdings" panose="05000000000000000000" pitchFamily="2" charset="2"/>
              <a:buChar char="Ø"/>
            </a:pPr>
            <a:r>
              <a:rPr lang="en-GB" noProof="0" dirty="0"/>
              <a:t> Misalignment between production, inventory, and seasonal demand patterns risks overstocking in Winter and under-supplying in peak periods.</a:t>
            </a:r>
          </a:p>
          <a:p>
            <a:pPr>
              <a:buFont typeface="Wingdings" panose="05000000000000000000" pitchFamily="2" charset="2"/>
              <a:buChar char="Ø"/>
            </a:pPr>
            <a:endParaRPr lang="en-GB" noProof="0" dirty="0"/>
          </a:p>
        </p:txBody>
      </p:sp>
    </p:spTree>
    <p:extLst>
      <p:ext uri="{BB962C8B-B14F-4D97-AF65-F5344CB8AC3E}">
        <p14:creationId xmlns:p14="http://schemas.microsoft.com/office/powerpoint/2010/main" val="3664355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3A03-6BB8-C74E-6BFA-3D2748F6AC46}"/>
              </a:ext>
            </a:extLst>
          </p:cNvPr>
          <p:cNvSpPr>
            <a:spLocks noGrp="1"/>
          </p:cNvSpPr>
          <p:nvPr>
            <p:ph type="title"/>
          </p:nvPr>
        </p:nvSpPr>
        <p:spPr/>
        <p:txBody>
          <a:bodyPr>
            <a:normAutofit fontScale="90000"/>
          </a:bodyPr>
          <a:lstStyle/>
          <a:p>
            <a:r>
              <a:rPr lang="en-GB" dirty="0"/>
              <a:t>How Sales Evolve: Growth Trends &amp; Seasonal Coffee Patterns - INTERPRETATION (4)</a:t>
            </a:r>
          </a:p>
        </p:txBody>
      </p:sp>
      <p:sp>
        <p:nvSpPr>
          <p:cNvPr id="3" name="Content Placeholder 2">
            <a:extLst>
              <a:ext uri="{FF2B5EF4-FFF2-40B4-BE49-F238E27FC236}">
                <a16:creationId xmlns:a16="http://schemas.microsoft.com/office/drawing/2014/main" id="{29648593-BB59-3D01-1F81-E07F3DAE9B0C}"/>
              </a:ext>
            </a:extLst>
          </p:cNvPr>
          <p:cNvSpPr>
            <a:spLocks noGrp="1"/>
          </p:cNvSpPr>
          <p:nvPr>
            <p:ph idx="1"/>
          </p:nvPr>
        </p:nvSpPr>
        <p:spPr/>
        <p:txBody>
          <a:bodyPr/>
          <a:lstStyle/>
          <a:p>
            <a:pPr marL="0" indent="0" algn="just">
              <a:buNone/>
            </a:pPr>
            <a:r>
              <a:rPr lang="en-GB" dirty="0"/>
              <a:t>Recommended Strategic Actions:</a:t>
            </a:r>
          </a:p>
          <a:p>
            <a:pPr algn="just">
              <a:buFont typeface="Wingdings" panose="05000000000000000000" pitchFamily="2" charset="2"/>
              <a:buChar char="Ø"/>
            </a:pPr>
            <a:r>
              <a:rPr lang="en-GB" dirty="0"/>
              <a:t> </a:t>
            </a:r>
            <a:r>
              <a:rPr lang="en-US" dirty="0"/>
              <a:t>Implement seasonal demand forecasting models to align production, inventory, and logistics with second quarter and Spring/Summer peaks.</a:t>
            </a:r>
            <a:r>
              <a:rPr lang="en-GB" dirty="0"/>
              <a:t> </a:t>
            </a:r>
          </a:p>
          <a:p>
            <a:pPr algn="just">
              <a:buFont typeface="Wingdings" panose="05000000000000000000" pitchFamily="2" charset="2"/>
              <a:buChar char="Ø"/>
            </a:pPr>
            <a:r>
              <a:rPr lang="en-GB" dirty="0"/>
              <a:t> </a:t>
            </a:r>
            <a:r>
              <a:rPr lang="en-US" dirty="0"/>
              <a:t>Deploy targeted fourth quarter recovery strategies, including pricing bundles, limited-edition winter blends, and loyalty promotions to stabilize off-peak revenue.</a:t>
            </a:r>
          </a:p>
          <a:p>
            <a:pPr algn="just">
              <a:buFont typeface="Wingdings" panose="05000000000000000000" pitchFamily="2" charset="2"/>
              <a:buChar char="Ø"/>
            </a:pPr>
            <a:r>
              <a:rPr lang="en-US" dirty="0"/>
              <a:t> Shift product mix dynamically by season, prioritizing lighter and medium roasts in warmer months and dark roasts in colder periods.</a:t>
            </a:r>
          </a:p>
          <a:p>
            <a:pPr algn="just">
              <a:buFont typeface="Wingdings" panose="05000000000000000000" pitchFamily="2" charset="2"/>
              <a:buChar char="Ø"/>
            </a:pPr>
            <a:r>
              <a:rPr lang="en-US" dirty="0"/>
              <a:t> Conduct root-cause analysis of the 2022 decline (pricing, supply constraints, channel performance, or macro impacts) and embed risk mitigation controls.</a:t>
            </a:r>
            <a:endParaRPr lang="en-GB" dirty="0"/>
          </a:p>
        </p:txBody>
      </p:sp>
    </p:spTree>
    <p:extLst>
      <p:ext uri="{BB962C8B-B14F-4D97-AF65-F5344CB8AC3E}">
        <p14:creationId xmlns:p14="http://schemas.microsoft.com/office/powerpoint/2010/main" val="3634987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96306-F0D7-B01D-1035-0A7EC78C40AD}"/>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C8438F13-B794-93A3-8738-818D2FFCD269}"/>
              </a:ext>
            </a:extLst>
          </p:cNvPr>
          <p:cNvSpPr>
            <a:spLocks noGrp="1"/>
          </p:cNvSpPr>
          <p:nvPr>
            <p:ph idx="1"/>
          </p:nvPr>
        </p:nvSpPr>
        <p:spPr/>
        <p:txBody>
          <a:bodyPr>
            <a:normAutofit fontScale="92500"/>
          </a:bodyPr>
          <a:lstStyle/>
          <a:p>
            <a:r>
              <a:rPr lang="en-US" dirty="0"/>
              <a:t>The data tells a consistent story: performance is driven by a highly concentrated product and roast mix, amplified by pronounced seasonality, and increasingly exposed to volatility across time, geography, and demand cycles. Revenue and volume are anchored in a small number of dominant products and roast types, with clear country-level divergences in consumption patterns, underscoring the need for localized portfolio strategies. </a:t>
            </a:r>
          </a:p>
          <a:p>
            <a:r>
              <a:rPr lang="en-US" dirty="0"/>
              <a:t>Temporal trends reveal strong growth momentum through 2021 followed by a sharp contraction in 2022, highlighting vulnerabilities in forecasting accuracy, supply chain resilience, and demand stability. Seasonal analysis further shows predictable demand surges and troughs, creating both opportunities for margin optimization and risks of inventory imbalance. </a:t>
            </a:r>
          </a:p>
          <a:p>
            <a:r>
              <a:rPr lang="en-US" dirty="0"/>
              <a:t>Taken together, these insights point to a strategic imperative to diversify revenue streams, sharpen market segmentation, and institutionalize data-driven planning, enabling the organization to convert structural demand patterns into sustained, profitable growth while reducing exposure to external and operational shocks.</a:t>
            </a:r>
            <a:endParaRPr lang="en-GB" dirty="0"/>
          </a:p>
        </p:txBody>
      </p:sp>
    </p:spTree>
    <p:extLst>
      <p:ext uri="{BB962C8B-B14F-4D97-AF65-F5344CB8AC3E}">
        <p14:creationId xmlns:p14="http://schemas.microsoft.com/office/powerpoint/2010/main" val="25075642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0</TotalTime>
  <Words>4126</Words>
  <Application>Microsoft Office PowerPoint</Application>
  <PresentationFormat>Widescreen</PresentationFormat>
  <Paragraphs>220</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Calibri</vt:lpstr>
      <vt:lpstr>Tw Cen MT</vt:lpstr>
      <vt:lpstr>Tw Cen MT Condensed</vt:lpstr>
      <vt:lpstr>Wingdings</vt:lpstr>
      <vt:lpstr>Wingdings 3</vt:lpstr>
      <vt:lpstr>Integral</vt:lpstr>
      <vt:lpstr>Stakeholder Data Storytelling Report</vt:lpstr>
      <vt:lpstr>Contents (1)</vt:lpstr>
      <vt:lpstr>CONTENTS (2)</vt:lpstr>
      <vt:lpstr>Introduction</vt:lpstr>
      <vt:lpstr>Analytical Focus &amp; Key Business Questions</vt:lpstr>
      <vt:lpstr>High-Volume vs. High-Value Coffees by Country – Significance </vt:lpstr>
      <vt:lpstr>High-Volume vs. High-Value Coffees by Country - Visualisations</vt:lpstr>
      <vt:lpstr>High-Volume vs. High-Value Coffees by Country – INTERPRETATION (1)</vt:lpstr>
      <vt:lpstr>High-Volume vs. High-Value Coffees by Country – INTERPRETATION (2)</vt:lpstr>
      <vt:lpstr>High-Volume vs. High-Value Coffees by Country – INTERPRETATION (3)</vt:lpstr>
      <vt:lpstr>High-Volume vs. High-Value Coffees by Country – INTERPRETATION (4)</vt:lpstr>
      <vt:lpstr>Investigating Top Customers’ Buying Behaviour - Relevance</vt:lpstr>
      <vt:lpstr>Investigating Top Customers’ Buying Behaviour - Visualisations</vt:lpstr>
      <vt:lpstr>Investigating Top Customers’ Buying Behaviour - INTERPRTATION (1)</vt:lpstr>
      <vt:lpstr>Investigating Top Customers’ Buying Behaviour - INTERPRTATION (2)</vt:lpstr>
      <vt:lpstr>Investigating Top Customers’ Buying Behaviour - INTERPRTATION (3)</vt:lpstr>
      <vt:lpstr>Investigating Top Customers’ Buying Behaviour - INTERPRTATION (4)</vt:lpstr>
      <vt:lpstr>Loyalty Program Effectiveness: Spending &amp; Frequency Impact - Importance</vt:lpstr>
      <vt:lpstr>Loyalty Program Effectiveness: Spending &amp; Frequency Impact - Visualisations</vt:lpstr>
      <vt:lpstr>Loyalty Program Effectiveness: Spending &amp; Frequency Impact - interpretation (1)</vt:lpstr>
      <vt:lpstr>Loyalty Program Effectiveness: Spending &amp; Frequency Impact - interpretation (2)</vt:lpstr>
      <vt:lpstr>Loyalty Program Effectiveness: Spending &amp; Frequency Impact - interpretation (3)</vt:lpstr>
      <vt:lpstr>Loyalty Program Effectiveness: Spending &amp; Frequency Impact - interpretation (4)</vt:lpstr>
      <vt:lpstr>Price–Volume Trade-offs Across Product Sizes - Significance</vt:lpstr>
      <vt:lpstr>Price–Volume Trade-offs Across Product Sizes - VISUALISATIONS</vt:lpstr>
      <vt:lpstr>Price–Volume Trade-offs Across Product Sizes - interpretation (1)</vt:lpstr>
      <vt:lpstr>Price–Volume Trade-offs Across Product Sizes - interpretation (2)</vt:lpstr>
      <vt:lpstr>Price–Volume Trade-offs Across Product Sizes - interpretation (3)</vt:lpstr>
      <vt:lpstr>Price–Volume Trade-offs Across Product Sizes - interpretation (4)</vt:lpstr>
      <vt:lpstr>How Sales Evolve: Growth Trends &amp; Seasonal Coffee Patterns - relevance</vt:lpstr>
      <vt:lpstr>How Sales Evolve: Growth Trends &amp; Seasonal Coffee Patterns - Visualisations</vt:lpstr>
      <vt:lpstr>How Sales Evolve: Growth Trends &amp; Seasonal Coffee Patterns - INTERPRETATION (1)</vt:lpstr>
      <vt:lpstr>How Sales Evolve: Growth Trends &amp; Seasonal Coffee Patterns - INTERPRETATION (2)</vt:lpstr>
      <vt:lpstr>How Sales Evolve: Growth Trends &amp; Seasonal Coffee Patterns - INTERPRETATION (3)</vt:lpstr>
      <vt:lpstr>How Sales Evolve: Growth Trends &amp; Seasonal Coffee Patterns - INTERPRETATION (4)</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Hristo Petkov</dc:creator>
  <cp:lastModifiedBy>Hristo Petkov</cp:lastModifiedBy>
  <cp:revision>268</cp:revision>
  <dcterms:created xsi:type="dcterms:W3CDTF">2026-01-31T18:57:15Z</dcterms:created>
  <dcterms:modified xsi:type="dcterms:W3CDTF">2026-02-03T12:57:29Z</dcterms:modified>
</cp:coreProperties>
</file>